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26C6DA">
                  <a:alpha val="22000"/>
                </a:srgbClr>
              </a:gs>
              <a:gs pos="100000">
                <a:srgbClr val="26C6D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E66F5">
                  <a:alpha val="18000"/>
                </a:srgbClr>
              </a:gs>
              <a:gs pos="100000">
                <a:srgbClr val="1E66F5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85800" y="11049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6" name="Freeform 6"/>
          <p:cNvSpPr/>
          <p:nvPr/>
        </p:nvSpPr>
        <p:spPr>
          <a:xfrm>
            <a:off x="685800" y="5753100"/>
            <a:ext cx="3924300" cy="9525"/>
          </a:xfrm>
          <a:custGeom>
            <a:avLst/>
            <a:gdLst/>
            <a:ahLst/>
            <a:cxnLst/>
            <a:rect l="l" t="t" r="r" b="b"/>
            <a:pathLst>
              <a:path w="3924300" h="9525">
                <a:moveTo>
                  <a:pt x="0" y="0"/>
                </a:moveTo>
                <a:lnTo>
                  <a:pt x="39243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20344F"/>
            </a:solidFill>
          </a:ln>
        </p:spPr>
      </p:sp>
      <p:sp>
        <p:nvSpPr>
          <p:cNvPr id="7" name="Freeform 7"/>
          <p:cNvSpPr/>
          <p:nvPr/>
        </p:nvSpPr>
        <p:spPr>
          <a:xfrm>
            <a:off x="7696200" y="1143000"/>
            <a:ext cx="3181350" cy="1790700"/>
          </a:xfrm>
          <a:custGeom>
            <a:avLst/>
            <a:gdLst/>
            <a:ahLst/>
            <a:cxnLst/>
            <a:rect l="l" t="t" r="r" b="b"/>
            <a:pathLst>
              <a:path w="3181350" h="1790700">
                <a:moveTo>
                  <a:pt x="0" y="0"/>
                </a:moveTo>
                <a:cubicBezTo>
                  <a:pt x="1162050" y="285750"/>
                  <a:pt x="2019300" y="857250"/>
                  <a:pt x="3181350" y="1790700"/>
                </a:cubicBezTo>
              </a:path>
            </a:pathLst>
          </a:custGeom>
          <a:noFill/>
          <a:ln w="19050">
            <a:solidFill>
              <a:srgbClr val="20344F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753350" y="1562100"/>
            <a:ext cx="3429000" cy="2133600"/>
          </a:xfrm>
          <a:custGeom>
            <a:avLst/>
            <a:gdLst/>
            <a:ahLst/>
            <a:cxnLst/>
            <a:rect l="l" t="t" r="r" b="b"/>
            <a:pathLst>
              <a:path w="3429000" h="2133600">
                <a:moveTo>
                  <a:pt x="0" y="0"/>
                </a:moveTo>
                <a:cubicBezTo>
                  <a:pt x="1238250" y="228600"/>
                  <a:pt x="2228850" y="933450"/>
                  <a:pt x="3429000" y="2133600"/>
                </a:cubicBezTo>
              </a:path>
            </a:pathLst>
          </a:custGeom>
          <a:noFill/>
          <a:ln w="19050">
            <a:solidFill>
              <a:srgbClr val="1E66F5">
                <a:alpha val="36000"/>
              </a:srgbClr>
            </a:solidFill>
          </a:ln>
        </p:spPr>
      </p:sp>
      <p:sp>
        <p:nvSpPr>
          <p:cNvPr id="9" name="Ellipse 9"/>
          <p:cNvSpPr/>
          <p:nvPr/>
        </p:nvSpPr>
        <p:spPr>
          <a:xfrm>
            <a:off x="8477250" y="1200150"/>
            <a:ext cx="1676400" cy="1676400"/>
          </a:xfrm>
          <a:prstGeom prst="ellipse">
            <a:avLst/>
          </a:prstGeom>
          <a:noFill/>
          <a:ln w="19050">
            <a:solidFill>
              <a:srgbClr val="20344F"/>
            </a:solidFill>
          </a:ln>
        </p:spPr>
      </p:sp>
      <p:sp>
        <p:nvSpPr>
          <p:cNvPr id="10" name="Ellipse 10"/>
          <p:cNvSpPr/>
          <p:nvPr/>
        </p:nvSpPr>
        <p:spPr>
          <a:xfrm>
            <a:off x="9124950" y="1809750"/>
            <a:ext cx="2514600" cy="2514600"/>
          </a:xfrm>
          <a:prstGeom prst="ellipse">
            <a:avLst/>
          </a:prstGeom>
          <a:noFill/>
          <a:ln w="19050">
            <a:solidFill>
              <a:srgbClr val="20344F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8496300" y="4229100"/>
            <a:ext cx="228600" cy="228600"/>
          </a:xfrm>
          <a:prstGeom prst="ellipse">
            <a:avLst/>
          </a:prstGeom>
          <a:solidFill>
            <a:srgbClr val="26C6DA">
              <a:alpha val="90000"/>
            </a:srgbClr>
          </a:solidFill>
          <a:ln>
            <a:noFill/>
          </a:ln>
        </p:spPr>
      </p:sp>
      <p:sp>
        <p:nvSpPr>
          <p:cNvPr id="12" name="Ellipse 12"/>
          <p:cNvSpPr/>
          <p:nvPr/>
        </p:nvSpPr>
        <p:spPr>
          <a:xfrm>
            <a:off x="9810750" y="2476500"/>
            <a:ext cx="152400" cy="152400"/>
          </a:xfrm>
          <a:prstGeom prst="ellipse">
            <a:avLst/>
          </a:prstGeom>
          <a:solidFill>
            <a:srgbClr val="66E3FF">
              <a:alpha val="90000"/>
            </a:srgbClr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10591800" y="3829050"/>
            <a:ext cx="190500" cy="190500"/>
          </a:xfrm>
          <a:prstGeom prst="ellipse">
            <a:avLst/>
          </a:prstGeom>
          <a:solidFill>
            <a:srgbClr val="1E66F5">
              <a:alpha val="95000"/>
            </a:srgbClr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010650" y="4819650"/>
            <a:ext cx="114300" cy="114300"/>
          </a:xfrm>
          <a:prstGeom prst="ellipse">
            <a:avLst/>
          </a:prstGeom>
          <a:solidFill>
            <a:srgbClr val="3DDC97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64845" y="1422082"/>
            <a:ext cx="315529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课程展示 · 多模态商品检索项目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4840" y="2072640"/>
            <a:ext cx="385198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gradFill>
                  <a:gsLst>
                    <a:gs pos="0">
                      <a:srgbClr val="1E66F5"/>
                    </a:gs>
                    <a:gs pos="100000">
                      <a:srgbClr val="26C6DA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基于 CLIP 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4840" y="2815590"/>
            <a:ext cx="6943573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ABO 商品图文检索实验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9130" y="3792855"/>
            <a:ext cx="531799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轻量微调、Prompt 细粒度与检索性能分析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85800" y="4514850"/>
            <a:ext cx="5334000" cy="704850"/>
          </a:xfrm>
          <a:prstGeom prst="roundRect">
            <a:avLst>
              <a:gd name="adj" fmla="val 24324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48690" y="4758690"/>
            <a:ext cx="52783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胡文煜 · 程序设计语言课程展示 · 2026 春季学期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0560" y="5985510"/>
            <a:ext cx="529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核心结论预告：完整商品标题 Prompt 与 LoRA 微调共同决定检索性能上限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C6DA">
              <a:alpha val="4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609600" y="552450"/>
            <a:ext cx="10972800" cy="5753100"/>
          </a:xfrm>
          <a:prstGeom prst="roundRect">
            <a:avLst>
              <a:gd name="adj" fmla="val 4636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82955" y="8829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01 / 问题背景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5810" y="1175385"/>
            <a:ext cx="460514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电商检索场景中的真实问题</a:t>
            </a:r>
          </a:p>
        </p:txBody>
      </p:sp>
      <p:sp>
        <p:nvSpPr>
          <p:cNvPr id="7" name="Rectangle 7"/>
          <p:cNvSpPr/>
          <p:nvPr/>
        </p:nvSpPr>
        <p:spPr>
          <a:xfrm>
            <a:off x="800100" y="1866900"/>
            <a:ext cx="3333750" cy="3829050"/>
          </a:xfrm>
          <a:prstGeom prst="roundRect">
            <a:avLst>
              <a:gd name="adj" fmla="val 6857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26795" y="21269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为什么值得做</a:t>
            </a:r>
          </a:p>
        </p:txBody>
      </p:sp>
      <p:sp>
        <p:nvSpPr>
          <p:cNvPr id="9" name="Rectangle 9"/>
          <p:cNvSpPr/>
          <p:nvPr/>
        </p:nvSpPr>
        <p:spPr>
          <a:xfrm>
            <a:off x="1047750" y="2590800"/>
            <a:ext cx="2838450" cy="819150"/>
          </a:xfrm>
          <a:prstGeom prst="roundRect">
            <a:avLst>
              <a:gd name="adj" fmla="val 20930"/>
            </a:avLst>
          </a:prstGeom>
          <a:solidFill>
            <a:srgbClr val="10243C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1257300" y="2817019"/>
            <a:ext cx="266700" cy="233362"/>
            <a:chOff x="1257300" y="2817019"/>
            <a:chExt cx="266700" cy="233362"/>
          </a:xfrm>
        </p:grpSpPr>
        <p:sp>
          <p:nvSpPr>
            <p:cNvPr id="10" name="Freeform 10"/>
            <p:cNvSpPr/>
            <p:nvPr/>
          </p:nvSpPr>
          <p:spPr>
            <a:xfrm>
              <a:off x="1307306" y="2817019"/>
              <a:ext cx="83344" cy="83344"/>
            </a:xfrm>
            <a:custGeom>
              <a:avLst/>
              <a:gdLst/>
              <a:ahLst/>
              <a:cxnLst/>
              <a:rect l="l" t="t" r="r" b="b"/>
              <a:pathLst>
                <a:path w="83344" h="83344">
                  <a:moveTo>
                    <a:pt x="83344" y="41672"/>
                  </a:moveTo>
                  <a:cubicBezTo>
                    <a:pt x="83344" y="64687"/>
                    <a:pt x="64687" y="83344"/>
                    <a:pt x="41672" y="83344"/>
                  </a:cubicBezTo>
                  <a:cubicBezTo>
                    <a:pt x="18657" y="83344"/>
                    <a:pt x="0" y="64687"/>
                    <a:pt x="0" y="41672"/>
                  </a:cubicBezTo>
                  <a:cubicBezTo>
                    <a:pt x="0" y="18657"/>
                    <a:pt x="18657" y="0"/>
                    <a:pt x="41672" y="0"/>
                  </a:cubicBezTo>
                  <a:cubicBezTo>
                    <a:pt x="64687" y="0"/>
                    <a:pt x="83344" y="18657"/>
                    <a:pt x="83344" y="41672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257300" y="2933700"/>
              <a:ext cx="133350" cy="116681"/>
            </a:xfrm>
            <a:custGeom>
              <a:avLst/>
              <a:gdLst/>
              <a:ahLst/>
              <a:cxnLst/>
              <a:rect l="l" t="t" r="r" b="b"/>
              <a:pathLst>
                <a:path w="133350" h="116681">
                  <a:moveTo>
                    <a:pt x="50006" y="0"/>
                  </a:moveTo>
                  <a:cubicBezTo>
                    <a:pt x="22389" y="0"/>
                    <a:pt x="0" y="22389"/>
                    <a:pt x="0" y="50006"/>
                  </a:cubicBezTo>
                  <a:lnTo>
                    <a:pt x="0" y="116681"/>
                  </a:lnTo>
                  <a:lnTo>
                    <a:pt x="133350" y="116681"/>
                  </a:lnTo>
                  <a:lnTo>
                    <a:pt x="133350" y="0"/>
                  </a:lnTo>
                  <a:lnTo>
                    <a:pt x="50006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423988" y="2933700"/>
              <a:ext cx="100012" cy="116681"/>
            </a:xfrm>
            <a:custGeom>
              <a:avLst/>
              <a:gdLst/>
              <a:ahLst/>
              <a:cxnLst/>
              <a:rect l="l" t="t" r="r" b="b"/>
              <a:pathLst>
                <a:path w="100012" h="116681">
                  <a:moveTo>
                    <a:pt x="50006" y="0"/>
                  </a:moveTo>
                  <a:lnTo>
                    <a:pt x="0" y="0"/>
                  </a:lnTo>
                  <a:lnTo>
                    <a:pt x="0" y="116681"/>
                  </a:lnTo>
                  <a:lnTo>
                    <a:pt x="100012" y="116681"/>
                  </a:lnTo>
                  <a:lnTo>
                    <a:pt x="100012" y="50006"/>
                  </a:lnTo>
                  <a:cubicBezTo>
                    <a:pt x="100012" y="22389"/>
                    <a:pt x="77625" y="0"/>
                    <a:pt x="50006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423988" y="2833688"/>
              <a:ext cx="66675" cy="66675"/>
            </a:xfrm>
            <a:custGeom>
              <a:avLst/>
              <a:gdLst/>
              <a:ahLst/>
              <a:cxnLst/>
              <a:rect l="l" t="t" r="r" b="b"/>
              <a:pathLst>
                <a:path w="66675" h="66675">
                  <a:moveTo>
                    <a:pt x="33338" y="66675"/>
                  </a:moveTo>
                  <a:cubicBezTo>
                    <a:pt x="51750" y="66675"/>
                    <a:pt x="66675" y="51749"/>
                    <a:pt x="66675" y="33338"/>
                  </a:cubicBezTo>
                  <a:cubicBezTo>
                    <a:pt x="66675" y="14926"/>
                    <a:pt x="51750" y="0"/>
                    <a:pt x="33338" y="0"/>
                  </a:cubicBezTo>
                  <a:cubicBezTo>
                    <a:pt x="14925" y="0"/>
                    <a:pt x="0" y="14926"/>
                    <a:pt x="0" y="33338"/>
                  </a:cubicBezTo>
                  <a:cubicBezTo>
                    <a:pt x="0" y="51749"/>
                    <a:pt x="14925" y="66675"/>
                    <a:pt x="33338" y="66675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657350" y="2809875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用户通常输入自然语言描述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62112" y="309800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而不是仅靠品牌名或单关键词检索</a:t>
            </a:r>
          </a:p>
        </p:txBody>
      </p:sp>
      <p:sp>
        <p:nvSpPr>
          <p:cNvPr id="17" name="Rectangle 17"/>
          <p:cNvSpPr/>
          <p:nvPr/>
        </p:nvSpPr>
        <p:spPr>
          <a:xfrm>
            <a:off x="1047750" y="3562350"/>
            <a:ext cx="2838450" cy="819150"/>
          </a:xfrm>
          <a:prstGeom prst="roundRect">
            <a:avLst>
              <a:gd name="adj" fmla="val 2093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1257300" y="3771900"/>
            <a:ext cx="261818" cy="261818"/>
          </a:xfrm>
          <a:custGeom>
            <a:avLst/>
            <a:gdLst/>
            <a:ahLst/>
            <a:cxnLst/>
            <a:rect l="l" t="t" r="r" b="b"/>
            <a:pathLst>
              <a:path w="261818" h="261818">
                <a:moveTo>
                  <a:pt x="186560" y="210133"/>
                </a:moveTo>
                <a:cubicBezTo>
                  <a:pt x="167081" y="224721"/>
                  <a:pt x="142890" y="233362"/>
                  <a:pt x="116681" y="233362"/>
                </a:cubicBezTo>
                <a:cubicBezTo>
                  <a:pt x="52240" y="233362"/>
                  <a:pt x="0" y="181123"/>
                  <a:pt x="0" y="116681"/>
                </a:cubicBezTo>
                <a:cubicBezTo>
                  <a:pt x="0" y="52240"/>
                  <a:pt x="52240" y="0"/>
                  <a:pt x="116681" y="0"/>
                </a:cubicBezTo>
                <a:cubicBezTo>
                  <a:pt x="181123" y="0"/>
                  <a:pt x="233362" y="52240"/>
                  <a:pt x="233362" y="116681"/>
                </a:cubicBezTo>
                <a:cubicBezTo>
                  <a:pt x="233362" y="142890"/>
                  <a:pt x="224721" y="167081"/>
                  <a:pt x="210133" y="186560"/>
                </a:cubicBezTo>
                <a:lnTo>
                  <a:pt x="261818" y="238245"/>
                </a:lnTo>
                <a:lnTo>
                  <a:pt x="238245" y="261818"/>
                </a:lnTo>
                <a:lnTo>
                  <a:pt x="186560" y="210133"/>
                </a:lnTo>
                <a:close/>
                <a:moveTo>
                  <a:pt x="93108" y="140254"/>
                </a:moveTo>
                <a:lnTo>
                  <a:pt x="69535" y="163828"/>
                </a:lnTo>
                <a:cubicBezTo>
                  <a:pt x="43497" y="137789"/>
                  <a:pt x="43497" y="95573"/>
                  <a:pt x="69535" y="69535"/>
                </a:cubicBezTo>
                <a:cubicBezTo>
                  <a:pt x="95573" y="43497"/>
                  <a:pt x="137789" y="43497"/>
                  <a:pt x="163828" y="69535"/>
                </a:cubicBezTo>
                <a:lnTo>
                  <a:pt x="140254" y="93108"/>
                </a:lnTo>
                <a:cubicBezTo>
                  <a:pt x="127235" y="80089"/>
                  <a:pt x="106127" y="80089"/>
                  <a:pt x="93108" y="93108"/>
                </a:cubicBezTo>
                <a:cubicBezTo>
                  <a:pt x="80089" y="106127"/>
                  <a:pt x="80089" y="127235"/>
                  <a:pt x="93108" y="140254"/>
                </a:cubicBez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657350" y="378142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同类商品外观高度相近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2112" y="4069556"/>
            <a:ext cx="22788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细粒度差异很容易在排序里被淹没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047750" y="4533900"/>
            <a:ext cx="2838450" cy="819150"/>
          </a:xfrm>
          <a:prstGeom prst="roundRect">
            <a:avLst>
              <a:gd name="adj" fmla="val 2093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290638" y="4743450"/>
            <a:ext cx="200025" cy="266700"/>
          </a:xfrm>
          <a:custGeom>
            <a:avLst/>
            <a:gdLst/>
            <a:ahLst/>
            <a:cxnLst/>
            <a:rect l="l" t="t" r="r" b="b"/>
            <a:pathLst>
              <a:path w="200025" h="266700">
                <a:moveTo>
                  <a:pt x="50006" y="191691"/>
                </a:moveTo>
                <a:lnTo>
                  <a:pt x="50006" y="241697"/>
                </a:lnTo>
                <a:lnTo>
                  <a:pt x="75009" y="266700"/>
                </a:lnTo>
                <a:lnTo>
                  <a:pt x="125016" y="266700"/>
                </a:lnTo>
                <a:lnTo>
                  <a:pt x="150019" y="241697"/>
                </a:lnTo>
                <a:lnTo>
                  <a:pt x="150019" y="191691"/>
                </a:lnTo>
                <a:lnTo>
                  <a:pt x="170681" y="171028"/>
                </a:lnTo>
                <a:cubicBezTo>
                  <a:pt x="189470" y="152240"/>
                  <a:pt x="200025" y="126706"/>
                  <a:pt x="200025" y="100135"/>
                </a:cubicBezTo>
                <a:cubicBezTo>
                  <a:pt x="200025" y="44900"/>
                  <a:pt x="155248" y="0"/>
                  <a:pt x="100012" y="0"/>
                </a:cubicBezTo>
                <a:cubicBezTo>
                  <a:pt x="44777" y="0"/>
                  <a:pt x="0" y="44900"/>
                  <a:pt x="0" y="100135"/>
                </a:cubicBezTo>
                <a:cubicBezTo>
                  <a:pt x="0" y="126706"/>
                  <a:pt x="10555" y="152240"/>
                  <a:pt x="29344" y="171028"/>
                </a:cubicBezTo>
                <a:lnTo>
                  <a:pt x="50006" y="191691"/>
                </a:lnTo>
                <a:close/>
                <a:moveTo>
                  <a:pt x="83344" y="164587"/>
                </a:moveTo>
                <a:lnTo>
                  <a:pt x="83344" y="100012"/>
                </a:lnTo>
                <a:lnTo>
                  <a:pt x="116681" y="100012"/>
                </a:lnTo>
                <a:lnTo>
                  <a:pt x="116681" y="164587"/>
                </a:lnTo>
                <a:cubicBezTo>
                  <a:pt x="145438" y="157185"/>
                  <a:pt x="166688" y="131080"/>
                  <a:pt x="166688" y="100012"/>
                </a:cubicBezTo>
                <a:cubicBezTo>
                  <a:pt x="166688" y="63189"/>
                  <a:pt x="136835" y="33338"/>
                  <a:pt x="100012" y="33338"/>
                </a:cubicBezTo>
                <a:cubicBezTo>
                  <a:pt x="63189" y="33338"/>
                  <a:pt x="33338" y="63189"/>
                  <a:pt x="33338" y="100012"/>
                </a:cubicBezTo>
                <a:cubicBezTo>
                  <a:pt x="33338" y="131080"/>
                  <a:pt x="54586" y="157185"/>
                  <a:pt x="83344" y="164587"/>
                </a:cubicBez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657350" y="475297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多模态模型带来新可能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662112" y="5041106"/>
            <a:ext cx="25788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能直接学习图像与文本之间的语义对齐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476750" y="1866900"/>
            <a:ext cx="6800850" cy="3829050"/>
          </a:xfrm>
          <a:prstGeom prst="roundRect">
            <a:avLst>
              <a:gd name="adj" fmla="val 5970"/>
            </a:avLst>
          </a:prstGeom>
          <a:solidFill>
            <a:srgbClr val="091423"/>
          </a:solidFill>
          <a:ln w="19050">
            <a:solidFill>
              <a:srgbClr val="20344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720590" y="2110740"/>
            <a:ext cx="256603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课堂展示里的叙事角度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14875" y="2652712"/>
            <a:ext cx="7019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这不是“做了一个模型”，而是回答一个检索问题：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05350" y="3162300"/>
            <a:ext cx="763714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商品描述写得更细，模型会不会更懂你？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20590" y="3920490"/>
            <a:ext cx="617848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如果原始 CLIP 不够，再做轻量微调，能把效果推高多少？</a:t>
            </a:r>
          </a:p>
        </p:txBody>
      </p:sp>
      <p:sp>
        <p:nvSpPr>
          <p:cNvPr id="30" name="Freeform 30"/>
          <p:cNvSpPr/>
          <p:nvPr/>
        </p:nvSpPr>
        <p:spPr>
          <a:xfrm>
            <a:off x="4743450" y="4495800"/>
            <a:ext cx="6134100" cy="9525"/>
          </a:xfrm>
          <a:custGeom>
            <a:avLst/>
            <a:gdLst/>
            <a:ahLst/>
            <a:cxnLst/>
            <a:rect l="l" t="t" r="r" b="b"/>
            <a:pathLst>
              <a:path w="6134100" h="9525">
                <a:moveTo>
                  <a:pt x="0" y="0"/>
                </a:moveTo>
                <a:lnTo>
                  <a:pt x="6134100" y="0"/>
                </a:lnTo>
              </a:path>
            </a:pathLst>
          </a:custGeom>
          <a:solidFill>
            <a:srgbClr val="000000"/>
          </a:solidFill>
          <a:ln w="19050">
            <a:solidFill>
              <a:srgbClr val="20344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724400" y="479107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因此，这个项目同时考察三件事：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34902" y="5180171"/>
            <a:ext cx="272503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1. 原始多模态模型的商品域表现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34902" y="5484971"/>
            <a:ext cx="220246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2. 轻量微调方法是否有效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34902" y="5789771"/>
            <a:ext cx="444474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3. Prompt 细粒度与检索性能之间是否存在稳定关联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762488" y="606171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63905" y="768668"/>
            <a:ext cx="11594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02 / 研究问题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6760" y="109918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本次实验围绕三个核心问题展开</a:t>
            </a:r>
          </a:p>
        </p:txBody>
      </p:sp>
      <p:sp>
        <p:nvSpPr>
          <p:cNvPr id="5" name="Rectangle 5"/>
          <p:cNvSpPr/>
          <p:nvPr/>
        </p:nvSpPr>
        <p:spPr>
          <a:xfrm>
            <a:off x="781050" y="1809750"/>
            <a:ext cx="3333750" cy="4095750"/>
          </a:xfrm>
          <a:prstGeom prst="roundRect">
            <a:avLst>
              <a:gd name="adj" fmla="val 742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4419600" y="1809750"/>
            <a:ext cx="3333750" cy="4095750"/>
          </a:xfrm>
          <a:prstGeom prst="roundRect">
            <a:avLst>
              <a:gd name="adj" fmla="val 742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8058150" y="1809750"/>
            <a:ext cx="3333750" cy="4095750"/>
          </a:xfrm>
          <a:prstGeom prst="roundRect">
            <a:avLst>
              <a:gd name="adj" fmla="val 742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17270" y="1855470"/>
            <a:ext cx="779840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1E66F5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857500" y="2190750"/>
            <a:ext cx="533400" cy="533400"/>
            <a:chOff x="2857500" y="2190750"/>
            <a:chExt cx="533400" cy="533400"/>
          </a:xfrm>
        </p:grpSpPr>
        <p:sp>
          <p:nvSpPr>
            <p:cNvPr id="9" name="Freeform 9"/>
            <p:cNvSpPr/>
            <p:nvPr/>
          </p:nvSpPr>
          <p:spPr>
            <a:xfrm>
              <a:off x="2990850" y="2324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0"/>
                  </a:moveTo>
                  <a:cubicBezTo>
                    <a:pt x="59703" y="0"/>
                    <a:pt x="0" y="59703"/>
                    <a:pt x="0" y="133350"/>
                  </a:cubicBezTo>
                  <a:cubicBezTo>
                    <a:pt x="0" y="206996"/>
                    <a:pt x="59703" y="266700"/>
                    <a:pt x="133350" y="266700"/>
                  </a:cubicBezTo>
                  <a:cubicBezTo>
                    <a:pt x="206996" y="266700"/>
                    <a:pt x="266700" y="206996"/>
                    <a:pt x="266700" y="133350"/>
                  </a:cubicBezTo>
                  <a:cubicBezTo>
                    <a:pt x="266700" y="59703"/>
                    <a:pt x="206996" y="0"/>
                    <a:pt x="133350" y="0"/>
                  </a:cubicBezTo>
                  <a:close/>
                  <a:moveTo>
                    <a:pt x="66675" y="133350"/>
                  </a:moveTo>
                  <a:cubicBezTo>
                    <a:pt x="66675" y="96526"/>
                    <a:pt x="96526" y="66675"/>
                    <a:pt x="133350" y="66675"/>
                  </a:cubicBezTo>
                  <a:cubicBezTo>
                    <a:pt x="170174" y="66675"/>
                    <a:pt x="200025" y="96526"/>
                    <a:pt x="200025" y="133350"/>
                  </a:cubicBezTo>
                  <a:cubicBezTo>
                    <a:pt x="200025" y="170174"/>
                    <a:pt x="170174" y="200025"/>
                    <a:pt x="133350" y="200025"/>
                  </a:cubicBezTo>
                  <a:cubicBezTo>
                    <a:pt x="96526" y="200025"/>
                    <a:pt x="66675" y="170174"/>
                    <a:pt x="66675" y="13335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857500" y="219075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266700" y="0"/>
                  </a:moveTo>
                  <a:cubicBezTo>
                    <a:pt x="119406" y="0"/>
                    <a:pt x="0" y="119406"/>
                    <a:pt x="0" y="266700"/>
                  </a:cubicBezTo>
                  <a:cubicBezTo>
                    <a:pt x="0" y="413995"/>
                    <a:pt x="119406" y="533400"/>
                    <a:pt x="266700" y="533400"/>
                  </a:cubicBezTo>
                  <a:cubicBezTo>
                    <a:pt x="413995" y="533400"/>
                    <a:pt x="533400" y="413995"/>
                    <a:pt x="533400" y="266700"/>
                  </a:cubicBezTo>
                  <a:cubicBezTo>
                    <a:pt x="533400" y="119406"/>
                    <a:pt x="413995" y="0"/>
                    <a:pt x="266700" y="0"/>
                  </a:cubicBezTo>
                  <a:close/>
                  <a:moveTo>
                    <a:pt x="66675" y="266700"/>
                  </a:moveTo>
                  <a:cubicBezTo>
                    <a:pt x="66675" y="156229"/>
                    <a:pt x="156229" y="66675"/>
                    <a:pt x="266700" y="66675"/>
                  </a:cubicBezTo>
                  <a:cubicBezTo>
                    <a:pt x="377170" y="66675"/>
                    <a:pt x="466725" y="156229"/>
                    <a:pt x="466725" y="266700"/>
                  </a:cubicBezTo>
                  <a:cubicBezTo>
                    <a:pt x="466725" y="377170"/>
                    <a:pt x="377170" y="466725"/>
                    <a:pt x="266700" y="466725"/>
                  </a:cubicBezTo>
                  <a:cubicBezTo>
                    <a:pt x="156229" y="466725"/>
                    <a:pt x="66675" y="377170"/>
                    <a:pt x="66675" y="26670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59180" y="2878455"/>
            <a:ext cx="286139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原始 CLIP 够不够用？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66800" y="3457575"/>
            <a:ext cx="25284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先测出 zero-shot baseline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66800" y="3762375"/>
            <a:ext cx="27284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在 ABO 商品检索中的真实表现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8705" y="44453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关注点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8705" y="4788218"/>
            <a:ext cx="2167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预训练知识能否直接迁移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8705" y="5073968"/>
            <a:ext cx="25276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商品域是否存在明显性能缺口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655820" y="18554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1E66F5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9" name="Freeform 19"/>
          <p:cNvSpPr/>
          <p:nvPr/>
        </p:nvSpPr>
        <p:spPr>
          <a:xfrm>
            <a:off x="6562725" y="2190750"/>
            <a:ext cx="400050" cy="533400"/>
          </a:xfrm>
          <a:custGeom>
            <a:avLst/>
            <a:gdLst/>
            <a:ahLst/>
            <a:cxnLst/>
            <a:rect l="l" t="t" r="r" b="b"/>
            <a:pathLst>
              <a:path w="400050" h="533400">
                <a:moveTo>
                  <a:pt x="233362" y="233362"/>
                </a:moveTo>
                <a:lnTo>
                  <a:pt x="266700" y="0"/>
                </a:lnTo>
                <a:lnTo>
                  <a:pt x="200025" y="0"/>
                </a:lnTo>
                <a:lnTo>
                  <a:pt x="0" y="233362"/>
                </a:lnTo>
                <a:lnTo>
                  <a:pt x="0" y="300038"/>
                </a:lnTo>
                <a:lnTo>
                  <a:pt x="166688" y="300038"/>
                </a:lnTo>
                <a:lnTo>
                  <a:pt x="133350" y="533400"/>
                </a:lnTo>
                <a:lnTo>
                  <a:pt x="200025" y="533400"/>
                </a:lnTo>
                <a:lnTo>
                  <a:pt x="400050" y="300038"/>
                </a:lnTo>
                <a:lnTo>
                  <a:pt x="400050" y="233362"/>
                </a:lnTo>
                <a:lnTo>
                  <a:pt x="233362" y="233362"/>
                </a:ln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97730" y="2878455"/>
            <a:ext cx="358178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轻量微调能带来多大提升？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5350" y="3457575"/>
            <a:ext cx="24784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比较 Linear Probe 与 LoRA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05350" y="3762375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看谁更适合商品域适配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07255" y="44453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关注点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7255" y="4788218"/>
            <a:ext cx="270762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少量参数是否足以提升排序质量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07255" y="5073968"/>
            <a:ext cx="25276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哪种微调形式更稳定、更有效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94370" y="1855470"/>
            <a:ext cx="968864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1E66F5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167938" y="2224088"/>
            <a:ext cx="466725" cy="500062"/>
          </a:xfrm>
          <a:custGeom>
            <a:avLst/>
            <a:gdLst/>
            <a:ahLst/>
            <a:cxnLst/>
            <a:rect l="l" t="t" r="r" b="b"/>
            <a:pathLst>
              <a:path w="466725" h="500062">
                <a:moveTo>
                  <a:pt x="0" y="0"/>
                </a:moveTo>
                <a:lnTo>
                  <a:pt x="466725" y="0"/>
                </a:lnTo>
                <a:lnTo>
                  <a:pt x="466725" y="100012"/>
                </a:lnTo>
                <a:lnTo>
                  <a:pt x="300038" y="300038"/>
                </a:lnTo>
                <a:lnTo>
                  <a:pt x="300038" y="500062"/>
                </a:lnTo>
                <a:lnTo>
                  <a:pt x="166688" y="500062"/>
                </a:lnTo>
                <a:lnTo>
                  <a:pt x="166688" y="300038"/>
                </a:lnTo>
                <a:lnTo>
                  <a:pt x="0" y="100012"/>
                </a:lnTo>
                <a:lnTo>
                  <a:pt x="0" y="0"/>
                </a:ln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8336280" y="2878455"/>
            <a:ext cx="322893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Prompt 细粒度重要吗？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43900" y="3457575"/>
            <a:ext cx="24584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从 type 到 full 的五档设计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43900" y="3762375"/>
            <a:ext cx="30384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观察文本信息量与效果之间的关系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345805" y="4445318"/>
            <a:ext cx="5743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关注点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45805" y="4788218"/>
            <a:ext cx="16274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属性拼接是否足够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45805" y="5073968"/>
            <a:ext cx="25276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完整标题是否具有决定性优势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5810" y="62331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结论页会回到这三个问题逐一作答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1594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03 / 任务定义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725147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任务定义：给定文本，返回最匹配商品图像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28800"/>
            <a:ext cx="10668000" cy="1676400"/>
          </a:xfrm>
          <a:prstGeom prst="roundRect">
            <a:avLst>
              <a:gd name="adj" fmla="val 13636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24890" y="205359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一句话描述任务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1080" y="2554605"/>
            <a:ext cx="867841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输入一条商品描述 Prompt，在候选图像库中检索最相关的商品图片。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000375"/>
            <a:ext cx="67089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最终关注的是：正确图像能否出现在 Top-K 里，以及它排在多靠前的位置。</a:t>
            </a:r>
          </a:p>
        </p:txBody>
      </p:sp>
      <p:sp>
        <p:nvSpPr>
          <p:cNvPr id="9" name="Rectangle 9"/>
          <p:cNvSpPr/>
          <p:nvPr/>
        </p:nvSpPr>
        <p:spPr>
          <a:xfrm>
            <a:off x="762000" y="3848100"/>
            <a:ext cx="2362200" cy="2038350"/>
          </a:xfrm>
          <a:prstGeom prst="roundRect">
            <a:avLst>
              <a:gd name="adj" fmla="val 10280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505200" y="3848100"/>
            <a:ext cx="2362200" cy="2038350"/>
          </a:xfrm>
          <a:prstGeom prst="roundRect">
            <a:avLst>
              <a:gd name="adj" fmla="val 10280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6248400" y="3848100"/>
            <a:ext cx="2362200" cy="2038350"/>
          </a:xfrm>
          <a:prstGeom prst="roundRect">
            <a:avLst>
              <a:gd name="adj" fmla="val 10280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991600" y="3848100"/>
            <a:ext cx="2438400" cy="2038350"/>
          </a:xfrm>
          <a:prstGeom prst="roundRect">
            <a:avLst>
              <a:gd name="adj" fmla="val 10280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1714500" y="4133850"/>
            <a:ext cx="448830" cy="448830"/>
          </a:xfrm>
          <a:custGeom>
            <a:avLst/>
            <a:gdLst/>
            <a:ahLst/>
            <a:cxnLst/>
            <a:rect l="l" t="t" r="r" b="b"/>
            <a:pathLst>
              <a:path w="448830" h="448830">
                <a:moveTo>
                  <a:pt x="319817" y="360228"/>
                </a:moveTo>
                <a:cubicBezTo>
                  <a:pt x="286424" y="385237"/>
                  <a:pt x="244955" y="400050"/>
                  <a:pt x="200025" y="400050"/>
                </a:cubicBezTo>
                <a:cubicBezTo>
                  <a:pt x="89554" y="400050"/>
                  <a:pt x="0" y="310496"/>
                  <a:pt x="0" y="200025"/>
                </a:cubicBezTo>
                <a:cubicBezTo>
                  <a:pt x="0" y="89554"/>
                  <a:pt x="89554" y="0"/>
                  <a:pt x="200025" y="0"/>
                </a:cubicBezTo>
                <a:cubicBezTo>
                  <a:pt x="310496" y="0"/>
                  <a:pt x="400050" y="89554"/>
                  <a:pt x="400050" y="200025"/>
                </a:cubicBezTo>
                <a:cubicBezTo>
                  <a:pt x="400050" y="244955"/>
                  <a:pt x="385237" y="286424"/>
                  <a:pt x="360228" y="319817"/>
                </a:cubicBezTo>
                <a:lnTo>
                  <a:pt x="448830" y="408420"/>
                </a:lnTo>
                <a:lnTo>
                  <a:pt x="408420" y="448830"/>
                </a:lnTo>
                <a:lnTo>
                  <a:pt x="319817" y="360228"/>
                </a:lnTo>
                <a:close/>
                <a:moveTo>
                  <a:pt x="159614" y="240436"/>
                </a:moveTo>
                <a:lnTo>
                  <a:pt x="119203" y="280847"/>
                </a:lnTo>
                <a:cubicBezTo>
                  <a:pt x="74566" y="236210"/>
                  <a:pt x="74566" y="163840"/>
                  <a:pt x="119203" y="119203"/>
                </a:cubicBezTo>
                <a:cubicBezTo>
                  <a:pt x="163840" y="74566"/>
                  <a:pt x="236210" y="74566"/>
                  <a:pt x="280847" y="119203"/>
                </a:cubicBezTo>
                <a:lnTo>
                  <a:pt x="240436" y="159614"/>
                </a:lnTo>
                <a:cubicBezTo>
                  <a:pt x="218118" y="137295"/>
                  <a:pt x="181932" y="137295"/>
                  <a:pt x="159614" y="159614"/>
                </a:cubicBezTo>
                <a:cubicBezTo>
                  <a:pt x="137295" y="181932"/>
                  <a:pt x="137295" y="218118"/>
                  <a:pt x="159614" y="240436"/>
                </a:cubicBez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4486275" y="4133850"/>
            <a:ext cx="400050" cy="457200"/>
            <a:chOff x="4486275" y="4133850"/>
            <a:chExt cx="400050" cy="457200"/>
          </a:xfrm>
        </p:grpSpPr>
        <p:sp>
          <p:nvSpPr>
            <p:cNvPr id="14" name="Freeform 14"/>
            <p:cNvSpPr/>
            <p:nvPr/>
          </p:nvSpPr>
          <p:spPr>
            <a:xfrm>
              <a:off x="4486275" y="4133850"/>
              <a:ext cx="400050" cy="228600"/>
            </a:xfrm>
            <a:custGeom>
              <a:avLst/>
              <a:gdLst/>
              <a:ahLst/>
              <a:cxnLst/>
              <a:rect l="l" t="t" r="r" b="b"/>
              <a:pathLst>
                <a:path w="400050" h="228600">
                  <a:moveTo>
                    <a:pt x="0" y="142875"/>
                  </a:moveTo>
                  <a:lnTo>
                    <a:pt x="0" y="85725"/>
                  </a:lnTo>
                  <a:lnTo>
                    <a:pt x="200025" y="0"/>
                  </a:lnTo>
                  <a:lnTo>
                    <a:pt x="400050" y="85725"/>
                  </a:lnTo>
                  <a:lnTo>
                    <a:pt x="400050" y="142875"/>
                  </a:lnTo>
                  <a:lnTo>
                    <a:pt x="200025" y="228600"/>
                  </a:lnTo>
                  <a:lnTo>
                    <a:pt x="0" y="142875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486275" y="4448175"/>
              <a:ext cx="400050" cy="142875"/>
            </a:xfrm>
            <a:custGeom>
              <a:avLst/>
              <a:gdLst/>
              <a:ahLst/>
              <a:cxnLst/>
              <a:rect l="l" t="t" r="r" b="b"/>
              <a:pathLst>
                <a:path w="400050" h="142875">
                  <a:moveTo>
                    <a:pt x="200025" y="142875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200025" y="85725"/>
                  </a:lnTo>
                  <a:lnTo>
                    <a:pt x="400050" y="0"/>
                  </a:lnTo>
                  <a:lnTo>
                    <a:pt x="400050" y="57150"/>
                  </a:lnTo>
                  <a:lnTo>
                    <a:pt x="200025" y="142875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486275" y="4333875"/>
              <a:ext cx="400050" cy="142875"/>
            </a:xfrm>
            <a:custGeom>
              <a:avLst/>
              <a:gdLst/>
              <a:ahLst/>
              <a:cxnLst/>
              <a:rect l="l" t="t" r="r" b="b"/>
              <a:pathLst>
                <a:path w="400050" h="142875">
                  <a:moveTo>
                    <a:pt x="0" y="57150"/>
                  </a:moveTo>
                  <a:lnTo>
                    <a:pt x="200025" y="142875"/>
                  </a:lnTo>
                  <a:lnTo>
                    <a:pt x="400050" y="57150"/>
                  </a:lnTo>
                  <a:lnTo>
                    <a:pt x="400050" y="0"/>
                  </a:lnTo>
                  <a:lnTo>
                    <a:pt x="200025" y="85725"/>
                  </a:lnTo>
                  <a:lnTo>
                    <a:pt x="0" y="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258050" y="4133850"/>
            <a:ext cx="342900" cy="457200"/>
            <a:chOff x="7258050" y="4133850"/>
            <a:chExt cx="342900" cy="457200"/>
          </a:xfrm>
        </p:grpSpPr>
        <p:sp>
          <p:nvSpPr>
            <p:cNvPr id="18" name="Freeform 18"/>
            <p:cNvSpPr/>
            <p:nvPr/>
          </p:nvSpPr>
          <p:spPr>
            <a:xfrm>
              <a:off x="7258050" y="4316730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318243" y="14578"/>
                  </a:moveTo>
                  <a:cubicBezTo>
                    <a:pt x="326281" y="10558"/>
                    <a:pt x="334679" y="5709"/>
                    <a:pt x="342900" y="0"/>
                  </a:cubicBezTo>
                  <a:lnTo>
                    <a:pt x="342900" y="45720"/>
                  </a:lnTo>
                  <a:cubicBezTo>
                    <a:pt x="342900" y="93064"/>
                    <a:pt x="266139" y="131445"/>
                    <a:pt x="171450" y="131445"/>
                  </a:cubicBezTo>
                  <a:cubicBezTo>
                    <a:pt x="76761" y="131445"/>
                    <a:pt x="0" y="93064"/>
                    <a:pt x="0" y="45720"/>
                  </a:cubicBezTo>
                  <a:lnTo>
                    <a:pt x="0" y="0"/>
                  </a:lnTo>
                  <a:cubicBezTo>
                    <a:pt x="8222" y="5709"/>
                    <a:pt x="16619" y="10558"/>
                    <a:pt x="24658" y="14578"/>
                  </a:cubicBezTo>
                  <a:cubicBezTo>
                    <a:pt x="65178" y="34838"/>
                    <a:pt x="117157" y="45720"/>
                    <a:pt x="171450" y="45720"/>
                  </a:cubicBezTo>
                  <a:cubicBezTo>
                    <a:pt x="225743" y="45720"/>
                    <a:pt x="277720" y="34838"/>
                    <a:pt x="318243" y="14578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258050" y="4459605"/>
              <a:ext cx="342900" cy="131445"/>
            </a:xfrm>
            <a:custGeom>
              <a:avLst/>
              <a:gdLst/>
              <a:ahLst/>
              <a:cxnLst/>
              <a:rect l="l" t="t" r="r" b="b"/>
              <a:pathLst>
                <a:path w="342900" h="131445">
                  <a:moveTo>
                    <a:pt x="0" y="0"/>
                  </a:moveTo>
                  <a:lnTo>
                    <a:pt x="0" y="45720"/>
                  </a:lnTo>
                  <a:cubicBezTo>
                    <a:pt x="0" y="93066"/>
                    <a:pt x="76761" y="131445"/>
                    <a:pt x="171450" y="131445"/>
                  </a:cubicBezTo>
                  <a:cubicBezTo>
                    <a:pt x="266139" y="131445"/>
                    <a:pt x="342900" y="93066"/>
                    <a:pt x="342900" y="45720"/>
                  </a:cubicBezTo>
                  <a:lnTo>
                    <a:pt x="342900" y="0"/>
                  </a:lnTo>
                  <a:cubicBezTo>
                    <a:pt x="334679" y="5709"/>
                    <a:pt x="326281" y="10558"/>
                    <a:pt x="318243" y="14579"/>
                  </a:cubicBezTo>
                  <a:cubicBezTo>
                    <a:pt x="277720" y="34839"/>
                    <a:pt x="225743" y="45720"/>
                    <a:pt x="171450" y="45720"/>
                  </a:cubicBezTo>
                  <a:cubicBezTo>
                    <a:pt x="117157" y="45720"/>
                    <a:pt x="65178" y="34839"/>
                    <a:pt x="24658" y="14579"/>
                  </a:cubicBezTo>
                  <a:cubicBezTo>
                    <a:pt x="16619" y="10558"/>
                    <a:pt x="8222" y="5709"/>
                    <a:pt x="0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7258050" y="4133850"/>
              <a:ext cx="342900" cy="171450"/>
            </a:xfrm>
            <a:custGeom>
              <a:avLst/>
              <a:gdLst/>
              <a:ahLst/>
              <a:cxnLst/>
              <a:rect l="l" t="t" r="r" b="b"/>
              <a:pathLst>
                <a:path w="342900" h="171450">
                  <a:moveTo>
                    <a:pt x="171450" y="0"/>
                  </a:moveTo>
                  <a:cubicBezTo>
                    <a:pt x="266139" y="0"/>
                    <a:pt x="342900" y="38381"/>
                    <a:pt x="342900" y="85725"/>
                  </a:cubicBezTo>
                  <a:cubicBezTo>
                    <a:pt x="342900" y="133069"/>
                    <a:pt x="266139" y="171450"/>
                    <a:pt x="171450" y="171450"/>
                  </a:cubicBezTo>
                  <a:cubicBezTo>
                    <a:pt x="76761" y="171450"/>
                    <a:pt x="0" y="133069"/>
                    <a:pt x="0" y="85725"/>
                  </a:cubicBezTo>
                  <a:cubicBezTo>
                    <a:pt x="0" y="3838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982200" y="4162425"/>
            <a:ext cx="457200" cy="400050"/>
            <a:chOff x="9982200" y="4162425"/>
            <a:chExt cx="457200" cy="400050"/>
          </a:xfrm>
        </p:grpSpPr>
        <p:sp>
          <p:nvSpPr>
            <p:cNvPr id="22" name="Freeform 22"/>
            <p:cNvSpPr/>
            <p:nvPr/>
          </p:nvSpPr>
          <p:spPr>
            <a:xfrm>
              <a:off x="10325100" y="4162425"/>
              <a:ext cx="114300" cy="400050"/>
            </a:xfrm>
            <a:custGeom>
              <a:avLst/>
              <a:gdLst/>
              <a:ahLst/>
              <a:cxnLst/>
              <a:rect l="l" t="t" r="r" b="b"/>
              <a:pathLst>
                <a:path w="114300" h="400050">
                  <a:moveTo>
                    <a:pt x="114300" y="0"/>
                  </a:moveTo>
                  <a:lnTo>
                    <a:pt x="0" y="0"/>
                  </a:lnTo>
                  <a:lnTo>
                    <a:pt x="0" y="400050"/>
                  </a:lnTo>
                  <a:lnTo>
                    <a:pt x="114300" y="4000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10153650" y="4276725"/>
              <a:ext cx="114300" cy="285750"/>
            </a:xfrm>
            <a:custGeom>
              <a:avLst/>
              <a:gdLst/>
              <a:ahLst/>
              <a:cxnLst/>
              <a:rect l="l" t="t" r="r" b="b"/>
              <a:pathLst>
                <a:path w="114300" h="285750">
                  <a:moveTo>
                    <a:pt x="0" y="0"/>
                  </a:moveTo>
                  <a:lnTo>
                    <a:pt x="114300" y="0"/>
                  </a:lnTo>
                  <a:lnTo>
                    <a:pt x="114300" y="285750"/>
                  </a:lnTo>
                  <a:lnTo>
                    <a:pt x="0" y="285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9982200" y="4391025"/>
              <a:ext cx="114300" cy="171450"/>
            </a:xfrm>
            <a:custGeom>
              <a:avLst/>
              <a:gdLst/>
              <a:ahLst/>
              <a:cxnLst/>
              <a:rect l="l" t="t" r="r" b="b"/>
              <a:pathLst>
                <a:path w="114300" h="171450">
                  <a:moveTo>
                    <a:pt x="0" y="0"/>
                  </a:moveTo>
                  <a:lnTo>
                    <a:pt x="114300" y="0"/>
                  </a:lnTo>
                  <a:lnTo>
                    <a:pt x="114300" y="171450"/>
                  </a:lnTo>
                  <a:lnTo>
                    <a:pt x="0" y="1714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948690" y="4720590"/>
            <a:ext cx="15075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Prompt 输入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54405" y="5112068"/>
            <a:ext cx="19875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如：a photo of a metal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4405" y="5378768"/>
            <a:ext cx="24195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table lamp with glass shade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691890" y="4720590"/>
            <a:ext cx="11168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CLIP 编码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97605" y="51120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文本与图像映射到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697605" y="53787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同一语义向量空间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5090" y="47205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向量检索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40805" y="5112068"/>
            <a:ext cx="25726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ChromaDB 存储图像 embedding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40805" y="53787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返回最相近的候选结果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78290" y="47205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指标评估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84005" y="5112068"/>
            <a:ext cx="73637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Recall@K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84005" y="5378768"/>
            <a:ext cx="13664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MRR@K / NDCG@K</a:t>
            </a:r>
          </a:p>
        </p:txBody>
      </p:sp>
      <p:sp>
        <p:nvSpPr>
          <p:cNvPr id="38" name="Freeform 38"/>
          <p:cNvSpPr/>
          <p:nvPr/>
        </p:nvSpPr>
        <p:spPr>
          <a:xfrm>
            <a:off x="3124200" y="48672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39" name="Freeform 39"/>
          <p:cNvSpPr/>
          <p:nvPr/>
        </p:nvSpPr>
        <p:spPr>
          <a:xfrm>
            <a:off x="5867400" y="48672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8610600" y="48672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04 / 数据集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566367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ABO 子集构建：14 类、5600 样本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790700"/>
            <a:ext cx="10668000" cy="1066800"/>
          </a:xfrm>
          <a:prstGeom prst="roundRect">
            <a:avLst>
              <a:gd name="adj" fmla="val 2142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990600" y="2038350"/>
            <a:ext cx="2114550" cy="571500"/>
          </a:xfrm>
          <a:prstGeom prst="roundRect">
            <a:avLst>
              <a:gd name="adj" fmla="val 3000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352800" y="2038350"/>
            <a:ext cx="2114550" cy="571500"/>
          </a:xfrm>
          <a:prstGeom prst="roundRect">
            <a:avLst>
              <a:gd name="adj" fmla="val 3000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0" y="2038350"/>
            <a:ext cx="2114550" cy="571500"/>
          </a:xfrm>
          <a:prstGeom prst="roundRect">
            <a:avLst>
              <a:gd name="adj" fmla="val 3000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077200" y="2038350"/>
            <a:ext cx="3124200" cy="571500"/>
          </a:xfrm>
          <a:prstGeom prst="roundRect">
            <a:avLst>
              <a:gd name="adj" fmla="val 3000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83005" y="2245042"/>
            <a:ext cx="7813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14 类商品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45205" y="2245042"/>
            <a:ext cx="10244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5600 条样本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07405" y="2245042"/>
            <a:ext cx="8263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72 个品牌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69605" y="2245042"/>
            <a:ext cx="20775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训练 / 测试 = 4480 / 1120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3181350"/>
            <a:ext cx="4762500" cy="2971800"/>
          </a:xfrm>
          <a:prstGeom prst="roundRect">
            <a:avLst>
              <a:gd name="adj" fmla="val 7692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005840" y="3425190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数据字段与选取原则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09650" y="39338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关键字段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1555" y="4273868"/>
            <a:ext cx="38777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ProductId / Brand / Category / ProductType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1555" y="4559618"/>
            <a:ext cx="27706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Material / ProductTitle / Image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9650" y="50387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构建方式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11555" y="53787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每类固定抽取 400 条样本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11555" y="5664518"/>
            <a:ext cx="28876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保障类间分布均衡，避免类别偏置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905500" y="3181350"/>
            <a:ext cx="5524500" cy="2971800"/>
          </a:xfrm>
          <a:prstGeom prst="roundRect">
            <a:avLst>
              <a:gd name="adj" fmla="val 7692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149340" y="3425190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分层划分与实验价值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172200" y="3962400"/>
            <a:ext cx="4953000" cy="685800"/>
          </a:xfrm>
          <a:prstGeom prst="roundRect">
            <a:avLst>
              <a:gd name="adj" fmla="val 2500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419850" y="4105275"/>
            <a:ext cx="44886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每个类别内部随机打乱，再按 8:2 划分训练与测试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23660" y="4385310"/>
            <a:ext cx="3070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保证每类都包含稳定的训练样本与测试样本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172200" y="4857750"/>
            <a:ext cx="4953000" cy="990600"/>
          </a:xfrm>
          <a:prstGeom prst="roundRect">
            <a:avLst>
              <a:gd name="adj" fmla="val 17308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419850" y="5038725"/>
            <a:ext cx="26384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为什么这份数据适合本实验？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21755" y="5378768"/>
            <a:ext cx="32476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有品牌、材质、标题等多粒度文本信息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421755" y="5626418"/>
            <a:ext cx="34457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存在大量“同类但难区分”的真实商品样本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4834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05 / Prompt 设计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566367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从粗粒度到细粒度的五类 Prompt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10668000" cy="1905000"/>
          </a:xfrm>
          <a:prstGeom prst="roundRect">
            <a:avLst>
              <a:gd name="adj" fmla="val 13000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09650" y="217170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048000" y="217170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086350" y="217170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7124700" y="217170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9163050" y="2171700"/>
            <a:ext cx="2019300" cy="1162050"/>
          </a:xfrm>
          <a:prstGeom prst="roundRect">
            <a:avLst>
              <a:gd name="adj" fmla="val 14754"/>
            </a:avLst>
          </a:prstGeom>
          <a:solidFill>
            <a:srgbClr val="14304B"/>
          </a:solidFill>
          <a:ln w="19050">
            <a:solidFill>
              <a:srgbClr val="26C6D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98245" y="2374582"/>
            <a:ext cx="5501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type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3960" y="2785110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a photo of 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3960" y="3013710"/>
            <a:ext cx="1262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{product_type}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36595" y="2374582"/>
            <a:ext cx="9891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material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242310" y="2785110"/>
            <a:ext cx="8625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{material}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42310" y="3013710"/>
            <a:ext cx="1262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{product_type}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74945" y="2374582"/>
            <a:ext cx="6772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brand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80660" y="2785110"/>
            <a:ext cx="646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{brand}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0660" y="3013710"/>
            <a:ext cx="1262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{product_type}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3295" y="2374582"/>
            <a:ext cx="175152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brand_material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19010" y="2785110"/>
            <a:ext cx="15266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{brand} {material}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319010" y="3013710"/>
            <a:ext cx="12626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{product_type}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89745" y="2374582"/>
            <a:ext cx="43465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full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5460" y="2785110"/>
            <a:ext cx="9665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a photo of 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5460" y="3013710"/>
            <a:ext cx="12706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EAF2FF"/>
                </a:solidFill>
                <a:latin typeface="Consolas"/>
                <a:ea typeface="Microsoft YaHei"/>
                <a:cs typeface="Consolas"/>
              </a:rPr>
              <a:t>{product_title}</a:t>
            </a:r>
          </a:p>
        </p:txBody>
      </p:sp>
      <p:sp>
        <p:nvSpPr>
          <p:cNvPr id="26" name="Rectangle 26"/>
          <p:cNvSpPr/>
          <p:nvPr/>
        </p:nvSpPr>
        <p:spPr>
          <a:xfrm>
            <a:off x="762000" y="4057650"/>
            <a:ext cx="5048250" cy="2095500"/>
          </a:xfrm>
          <a:prstGeom prst="roundRect">
            <a:avLst>
              <a:gd name="adj" fmla="val 1090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1005840" y="43014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实验假设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07745" y="4832032"/>
            <a:ext cx="488251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文本信息越完整，越有利于区分外观相近的商品。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1555" y="5302568"/>
            <a:ext cx="489489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尤其在同类别内部，品牌、材质和标题细节会影响检索排序。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15050" y="4057650"/>
            <a:ext cx="5314950" cy="2095500"/>
          </a:xfrm>
          <a:prstGeom prst="roundRect">
            <a:avLst>
              <a:gd name="adj" fmla="val 10909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6358890" y="43014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设计取舍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63652" y="4818221"/>
            <a:ext cx="171790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· 没有使用颜色字段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365558" y="5120164"/>
            <a:ext cx="4818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因为数据中存在 Unknown Color / Multi / Multicolor 等噪声值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363652" y="5523071"/>
            <a:ext cx="321909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· `full` Prompt 最接近真实用户表达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365558" y="5825014"/>
            <a:ext cx="32627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因此它也是最值得重点观察的一组实验条件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1594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06 / 基线模型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54179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Baseline：直接使用预训练 CLIP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3352800" cy="4267200"/>
          </a:xfrm>
          <a:prstGeom prst="roundRect">
            <a:avLst>
              <a:gd name="adj" fmla="val 6818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05840" y="2053590"/>
            <a:ext cx="237701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为什么先看原始 CLIP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9650" y="26384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1. 它是零样本 baseline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2508" y="2967514"/>
            <a:ext cx="36028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不进行任何参数更新，直接迁移到商品检索场景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9650" y="3438525"/>
            <a:ext cx="27384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2. 它代表“预训练知识的下限”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2508" y="3767614"/>
            <a:ext cx="360283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先知道原始模型多强，后面的微调提升才有意义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9650" y="4238625"/>
            <a:ext cx="21183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3. 它天然适合图文匹配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2508" y="4567714"/>
            <a:ext cx="394287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图像编码器与文本编码器通过对比学习共享语义空间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28700" y="5219700"/>
            <a:ext cx="2819400" cy="590550"/>
          </a:xfrm>
          <a:prstGeom prst="roundRect">
            <a:avLst>
              <a:gd name="adj" fmla="val 29032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278255" y="5435918"/>
            <a:ext cx="29146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结论预期：它能工作，但未必足够细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438650" y="1809750"/>
            <a:ext cx="6991350" cy="4267200"/>
          </a:xfrm>
          <a:prstGeom prst="roundRect">
            <a:avLst>
              <a:gd name="adj" fmla="val 5357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124450" y="2533650"/>
            <a:ext cx="1733550" cy="1314450"/>
          </a:xfrm>
          <a:prstGeom prst="roundRect">
            <a:avLst>
              <a:gd name="adj" fmla="val 15942"/>
            </a:avLst>
          </a:prstGeom>
          <a:solidFill>
            <a:srgbClr val="10243C"/>
          </a:solidFill>
          <a:ln w="19050">
            <a:solidFill>
              <a:srgbClr val="1E66F5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029700" y="2533650"/>
            <a:ext cx="1733550" cy="1314450"/>
          </a:xfrm>
          <a:prstGeom prst="roundRect">
            <a:avLst>
              <a:gd name="adj" fmla="val 15942"/>
            </a:avLst>
          </a:prstGeom>
          <a:solidFill>
            <a:srgbClr val="10243C"/>
          </a:solidFill>
          <a:ln w="19050">
            <a:solidFill>
              <a:srgbClr val="26C6DA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086600" y="2266950"/>
            <a:ext cx="1714500" cy="1847850"/>
          </a:xfrm>
          <a:prstGeom prst="roundRect">
            <a:avLst>
              <a:gd name="adj" fmla="val 12222"/>
            </a:avLst>
          </a:prstGeom>
          <a:solidFill>
            <a:srgbClr val="12253E"/>
          </a:solidFill>
          <a:ln w="19050">
            <a:solidFill>
              <a:srgbClr val="20344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499735" y="2799398"/>
            <a:ext cx="59559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图像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59730" y="3207068"/>
            <a:ext cx="128544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Vision Encoder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28785" y="2799398"/>
            <a:ext cx="595598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文本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41155" y="3207068"/>
            <a:ext cx="11774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Text Encoder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4745" y="260318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共享语义空间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12355" y="2978468"/>
            <a:ext cx="14744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相似图文对更靠近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450455" y="32451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不匹配图文对更远离</a:t>
            </a:r>
          </a:p>
        </p:txBody>
      </p:sp>
      <p:sp>
        <p:nvSpPr>
          <p:cNvPr id="26" name="Freeform 26"/>
          <p:cNvSpPr/>
          <p:nvPr/>
        </p:nvSpPr>
        <p:spPr>
          <a:xfrm>
            <a:off x="6858000" y="319087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1E66F5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8801100" y="3190875"/>
            <a:ext cx="228600" cy="9525"/>
          </a:xfrm>
          <a:custGeom>
            <a:avLst/>
            <a:gdLst/>
            <a:ahLst/>
            <a:cxnLst/>
            <a:rect l="l" t="t" r="r" b="b"/>
            <a:pathLst>
              <a:path w="228600" h="9525">
                <a:moveTo>
                  <a:pt x="0" y="0"/>
                </a:moveTo>
                <a:lnTo>
                  <a:pt x="22860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162550" y="4524375"/>
            <a:ext cx="4838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后续所有方法都建立在这个编码框架之上，差异只在于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160645" y="4812982"/>
            <a:ext cx="37823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是否以及如何对商品域进行轻量适配。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3394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07 / 微调方法一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691123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Linear Probe：冻结主干，只训练投影层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52197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05840" y="20535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核心思想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8698" y="2611279"/>
            <a:ext cx="624628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保留 CLIP 已学到的通用图文语义，只在输出端增加可训练线性层。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11555" y="31880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图像侧：zᵥ = Wᵥv + bᵥ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1555" y="34928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文本侧：zₜ = Wₜt + bₜ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9650" y="4067175"/>
            <a:ext cx="438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优点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1555" y="4407218"/>
            <a:ext cx="144746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参数少、训练快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1555" y="4673918"/>
            <a:ext cx="25456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易于解释“适配发生在哪一层”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1555" y="4940618"/>
            <a:ext cx="27976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· 适合做 baseline 级别的轻量改造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28700" y="5391150"/>
            <a:ext cx="4686300" cy="419100"/>
          </a:xfrm>
          <a:prstGeom prst="roundRect">
            <a:avLst>
              <a:gd name="adj" fmla="val 31818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240155" y="5512118"/>
            <a:ext cx="54259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我们还进一步做了 text only / vision only / text+vision 消融实验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305550" y="1809750"/>
            <a:ext cx="5124450" cy="4248150"/>
          </a:xfrm>
          <a:prstGeom prst="roundRect">
            <a:avLst>
              <a:gd name="adj" fmla="val 5381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819900" y="2552700"/>
            <a:ext cx="1104900" cy="990600"/>
          </a:xfrm>
          <a:prstGeom prst="roundRect">
            <a:avLst>
              <a:gd name="adj" fmla="val 17308"/>
            </a:avLst>
          </a:prstGeom>
          <a:solidFill>
            <a:srgbClr val="10243C"/>
          </a:solidFill>
          <a:ln w="19050">
            <a:solidFill>
              <a:srgbClr val="1E66F5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9810750" y="2552700"/>
            <a:ext cx="1104900" cy="990600"/>
          </a:xfrm>
          <a:prstGeom prst="roundRect">
            <a:avLst>
              <a:gd name="adj" fmla="val 17308"/>
            </a:avLst>
          </a:prstGeom>
          <a:solidFill>
            <a:srgbClr val="10243C"/>
          </a:solidFill>
          <a:ln w="19050">
            <a:solidFill>
              <a:srgbClr val="26C6D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324850" y="2362200"/>
            <a:ext cx="1085850" cy="1371600"/>
          </a:xfrm>
          <a:prstGeom prst="roundRect">
            <a:avLst>
              <a:gd name="adj" fmla="val 15789"/>
            </a:avLst>
          </a:prstGeom>
          <a:solidFill>
            <a:srgbClr val="14304B"/>
          </a:solidFill>
          <a:ln w="19050">
            <a:solidFill>
              <a:srgbClr val="26C6D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008495" y="29270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图像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980295" y="29270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文本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9155" y="2578418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可训练投影层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0108" y="2910364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只改输出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80108" y="3158014"/>
            <a:ext cx="7124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不改主干</a:t>
            </a:r>
          </a:p>
        </p:txBody>
      </p:sp>
      <p:sp>
        <p:nvSpPr>
          <p:cNvPr id="25" name="Freeform 25"/>
          <p:cNvSpPr/>
          <p:nvPr/>
        </p:nvSpPr>
        <p:spPr>
          <a:xfrm>
            <a:off x="7924800" y="304800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E66F5"/>
            </a:solidFill>
          </a:ln>
        </p:spPr>
      </p:sp>
      <p:sp>
        <p:nvSpPr>
          <p:cNvPr id="26" name="Freeform 26"/>
          <p:cNvSpPr/>
          <p:nvPr/>
        </p:nvSpPr>
        <p:spPr>
          <a:xfrm>
            <a:off x="9410700" y="304800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26C6D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6802755" y="4388168"/>
            <a:ext cx="38327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商品域适配被限制在“向量空间重映射”这一层，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802755" y="4692968"/>
            <a:ext cx="399478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因此是一次成本较低、结构清晰的轻量微调尝试。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3394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08 / 微调方法二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764842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LoRA：在后部 Transformer 中注入低秩适配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106680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23950" y="2247900"/>
            <a:ext cx="3048000" cy="3371850"/>
          </a:xfrm>
          <a:prstGeom prst="roundRect">
            <a:avLst>
              <a:gd name="adj" fmla="val 6875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367790" y="2491740"/>
            <a:ext cx="274245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和 Linear Probe 的区别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3057525"/>
            <a:ext cx="311848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Linear Probe 只改最后的投影空间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3476625"/>
            <a:ext cx="33385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LoRA 则深入到模型内部的部分线性层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3505" y="3911918"/>
            <a:ext cx="32746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用低秩矩阵学习增量，不直接重训原权重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3505" y="4521518"/>
            <a:ext cx="15824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h = Wx + α/r · BAx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505" y="4997768"/>
            <a:ext cx="36527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因此它更像“以更小代价改模型内部表达能力”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14850" y="2247900"/>
            <a:ext cx="6572250" cy="3371850"/>
          </a:xfrm>
          <a:prstGeom prst="roundRect">
            <a:avLst>
              <a:gd name="adj" fmla="val 6215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758690" y="2491740"/>
            <a:ext cx="231400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为什么预计它会更强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0" y="3086100"/>
            <a:ext cx="5695950" cy="666750"/>
          </a:xfrm>
          <a:prstGeom prst="roundRect">
            <a:avLst>
              <a:gd name="adj" fmla="val 2571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5200650" y="3190875"/>
            <a:ext cx="48587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不是只在输出端“挪位置”，而是提前改变特征提取过程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4460" y="3470910"/>
            <a:ext cx="32308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更适合商品域这种存在细粒度视觉差异的任务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0" y="4000500"/>
            <a:ext cx="27241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7924800" y="4000500"/>
            <a:ext cx="2724150" cy="1162050"/>
          </a:xfrm>
          <a:prstGeom prst="roundRect">
            <a:avLst>
              <a:gd name="adj" fmla="val 14754"/>
            </a:avLst>
          </a:prstGeom>
          <a:solidFill>
            <a:srgbClr val="10243C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239941" y="4248150"/>
            <a:ext cx="283369" cy="323850"/>
            <a:chOff x="5239941" y="4248150"/>
            <a:chExt cx="283369" cy="323850"/>
          </a:xfrm>
        </p:grpSpPr>
        <p:sp>
          <p:nvSpPr>
            <p:cNvPr id="20" name="Freeform 20"/>
            <p:cNvSpPr/>
            <p:nvPr/>
          </p:nvSpPr>
          <p:spPr>
            <a:xfrm>
              <a:off x="5239941" y="4248150"/>
              <a:ext cx="283369" cy="161925"/>
            </a:xfrm>
            <a:custGeom>
              <a:avLst/>
              <a:gdLst/>
              <a:ahLst/>
              <a:cxnLst/>
              <a:rect l="l" t="t" r="r" b="b"/>
              <a:pathLst>
                <a:path w="283369" h="161925">
                  <a:moveTo>
                    <a:pt x="0" y="101203"/>
                  </a:moveTo>
                  <a:lnTo>
                    <a:pt x="0" y="60722"/>
                  </a:lnTo>
                  <a:lnTo>
                    <a:pt x="141684" y="0"/>
                  </a:lnTo>
                  <a:lnTo>
                    <a:pt x="283369" y="60722"/>
                  </a:lnTo>
                  <a:lnTo>
                    <a:pt x="283369" y="101203"/>
                  </a:lnTo>
                  <a:lnTo>
                    <a:pt x="141684" y="161925"/>
                  </a:lnTo>
                  <a:lnTo>
                    <a:pt x="0" y="101203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239941" y="4470797"/>
              <a:ext cx="283369" cy="101203"/>
            </a:xfrm>
            <a:custGeom>
              <a:avLst/>
              <a:gdLst/>
              <a:ahLst/>
              <a:cxnLst/>
              <a:rect l="l" t="t" r="r" b="b"/>
              <a:pathLst>
                <a:path w="283369" h="101203">
                  <a:moveTo>
                    <a:pt x="141684" y="101203"/>
                  </a:moveTo>
                  <a:lnTo>
                    <a:pt x="0" y="40481"/>
                  </a:lnTo>
                  <a:lnTo>
                    <a:pt x="0" y="0"/>
                  </a:lnTo>
                  <a:lnTo>
                    <a:pt x="141684" y="60722"/>
                  </a:lnTo>
                  <a:lnTo>
                    <a:pt x="283369" y="0"/>
                  </a:lnTo>
                  <a:lnTo>
                    <a:pt x="283369" y="40481"/>
                  </a:lnTo>
                  <a:lnTo>
                    <a:pt x="141684" y="101203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5239941" y="4389834"/>
              <a:ext cx="283369" cy="101203"/>
            </a:xfrm>
            <a:custGeom>
              <a:avLst/>
              <a:gdLst/>
              <a:ahLst/>
              <a:cxnLst/>
              <a:rect l="l" t="t" r="r" b="b"/>
              <a:pathLst>
                <a:path w="283369" h="101203">
                  <a:moveTo>
                    <a:pt x="0" y="40481"/>
                  </a:moveTo>
                  <a:lnTo>
                    <a:pt x="141684" y="101203"/>
                  </a:lnTo>
                  <a:lnTo>
                    <a:pt x="283369" y="40481"/>
                  </a:lnTo>
                  <a:lnTo>
                    <a:pt x="283369" y="0"/>
                  </a:lnTo>
                  <a:lnTo>
                    <a:pt x="141684" y="60722"/>
                  </a:lnTo>
                  <a:lnTo>
                    <a:pt x="0" y="0"/>
                  </a:lnTo>
                  <a:lnTo>
                    <a:pt x="0" y="40481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676900" y="427672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适配更靠近模型内部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203508" y="4662964"/>
            <a:ext cx="20726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对特征分布的调节能力更强</a:t>
            </a:r>
          </a:p>
        </p:txBody>
      </p:sp>
      <p:sp>
        <p:nvSpPr>
          <p:cNvPr id="26" name="Freeform 26"/>
          <p:cNvSpPr/>
          <p:nvPr/>
        </p:nvSpPr>
        <p:spPr>
          <a:xfrm>
            <a:off x="8231981" y="4248150"/>
            <a:ext cx="242888" cy="323850"/>
          </a:xfrm>
          <a:custGeom>
            <a:avLst/>
            <a:gdLst/>
            <a:ahLst/>
            <a:cxnLst/>
            <a:rect l="l" t="t" r="r" b="b"/>
            <a:pathLst>
              <a:path w="242888" h="323850">
                <a:moveTo>
                  <a:pt x="141684" y="141684"/>
                </a:moveTo>
                <a:lnTo>
                  <a:pt x="161925" y="0"/>
                </a:lnTo>
                <a:lnTo>
                  <a:pt x="121444" y="0"/>
                </a:lnTo>
                <a:lnTo>
                  <a:pt x="0" y="141684"/>
                </a:lnTo>
                <a:lnTo>
                  <a:pt x="0" y="182166"/>
                </a:lnTo>
                <a:lnTo>
                  <a:pt x="101203" y="182166"/>
                </a:lnTo>
                <a:lnTo>
                  <a:pt x="80962" y="323850"/>
                </a:lnTo>
                <a:lnTo>
                  <a:pt x="121444" y="323850"/>
                </a:lnTo>
                <a:lnTo>
                  <a:pt x="242888" y="182166"/>
                </a:lnTo>
                <a:lnTo>
                  <a:pt x="242888" y="141684"/>
                </a:lnTo>
                <a:lnTo>
                  <a:pt x="141684" y="141684"/>
                </a:ln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8648700" y="4276725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参数效率依然较高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5308" y="4662964"/>
            <a:ext cx="241268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保持 512 维输出，便于公平比较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62538" y="6233160"/>
            <a:ext cx="2065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1594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09 / 系统实现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885817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关键实现：CLIP Embedding + ChromaDB Top-K 检索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106680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104900" y="2876550"/>
            <a:ext cx="2038350" cy="1885950"/>
          </a:xfrm>
          <a:prstGeom prst="roundRect">
            <a:avLst>
              <a:gd name="adj" fmla="val 1212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3619500" y="2876550"/>
            <a:ext cx="2038350" cy="1885950"/>
          </a:xfrm>
          <a:prstGeom prst="roundRect">
            <a:avLst>
              <a:gd name="adj" fmla="val 1212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6134100" y="2876550"/>
            <a:ext cx="2038350" cy="1885950"/>
          </a:xfrm>
          <a:prstGeom prst="roundRect">
            <a:avLst>
              <a:gd name="adj" fmla="val 1212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8648700" y="2876550"/>
            <a:ext cx="2438400" cy="1885950"/>
          </a:xfrm>
          <a:prstGeom prst="roundRect">
            <a:avLst>
              <a:gd name="adj" fmla="val 12121"/>
            </a:avLst>
          </a:prstGeom>
          <a:solidFill>
            <a:srgbClr val="14304B"/>
          </a:solidFill>
          <a:ln w="19050">
            <a:solidFill>
              <a:srgbClr val="26C6DA"/>
            </a:solidFill>
          </a:ln>
        </p:spPr>
      </p:sp>
      <p:grpSp>
        <p:nvGrpSpPr>
          <p:cNvPr id="13" name="Group 13"/>
          <p:cNvGrpSpPr/>
          <p:nvPr/>
        </p:nvGrpSpPr>
        <p:grpSpPr>
          <a:xfrm>
            <a:off x="1916906" y="2209800"/>
            <a:ext cx="414338" cy="552450"/>
            <a:chOff x="1916906" y="2209800"/>
            <a:chExt cx="414338" cy="552450"/>
          </a:xfrm>
        </p:grpSpPr>
        <p:sp>
          <p:nvSpPr>
            <p:cNvPr id="10" name="Freeform 10"/>
            <p:cNvSpPr/>
            <p:nvPr/>
          </p:nvSpPr>
          <p:spPr>
            <a:xfrm>
              <a:off x="1916906" y="2430780"/>
              <a:ext cx="414338" cy="158829"/>
            </a:xfrm>
            <a:custGeom>
              <a:avLst/>
              <a:gdLst/>
              <a:ahLst/>
              <a:cxnLst/>
              <a:rect l="l" t="t" r="r" b="b"/>
              <a:pathLst>
                <a:path w="414338" h="158829">
                  <a:moveTo>
                    <a:pt x="384543" y="17615"/>
                  </a:moveTo>
                  <a:cubicBezTo>
                    <a:pt x="394256" y="12758"/>
                    <a:pt x="404404" y="6899"/>
                    <a:pt x="414338" y="0"/>
                  </a:cubicBezTo>
                  <a:lnTo>
                    <a:pt x="414338" y="55245"/>
                  </a:lnTo>
                  <a:cubicBezTo>
                    <a:pt x="414338" y="112453"/>
                    <a:pt x="321585" y="158829"/>
                    <a:pt x="207169" y="158829"/>
                  </a:cubicBezTo>
                  <a:cubicBezTo>
                    <a:pt x="92753" y="158829"/>
                    <a:pt x="0" y="112453"/>
                    <a:pt x="0" y="55245"/>
                  </a:cubicBezTo>
                  <a:lnTo>
                    <a:pt x="0" y="0"/>
                  </a:lnTo>
                  <a:cubicBezTo>
                    <a:pt x="9934" y="6899"/>
                    <a:pt x="20081" y="12758"/>
                    <a:pt x="29795" y="17615"/>
                  </a:cubicBezTo>
                  <a:cubicBezTo>
                    <a:pt x="78757" y="42096"/>
                    <a:pt x="141565" y="55245"/>
                    <a:pt x="207169" y="55245"/>
                  </a:cubicBezTo>
                  <a:cubicBezTo>
                    <a:pt x="272773" y="55245"/>
                    <a:pt x="335579" y="42096"/>
                    <a:pt x="384543" y="17615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16906" y="2603421"/>
              <a:ext cx="414338" cy="158829"/>
            </a:xfrm>
            <a:custGeom>
              <a:avLst/>
              <a:gdLst/>
              <a:ahLst/>
              <a:cxnLst/>
              <a:rect l="l" t="t" r="r" b="b"/>
              <a:pathLst>
                <a:path w="414338" h="158829">
                  <a:moveTo>
                    <a:pt x="0" y="0"/>
                  </a:moveTo>
                  <a:lnTo>
                    <a:pt x="0" y="55245"/>
                  </a:lnTo>
                  <a:cubicBezTo>
                    <a:pt x="0" y="112455"/>
                    <a:pt x="92753" y="158829"/>
                    <a:pt x="207169" y="158829"/>
                  </a:cubicBezTo>
                  <a:cubicBezTo>
                    <a:pt x="321585" y="158829"/>
                    <a:pt x="414338" y="112455"/>
                    <a:pt x="414338" y="55245"/>
                  </a:cubicBezTo>
                  <a:lnTo>
                    <a:pt x="414338" y="0"/>
                  </a:lnTo>
                  <a:cubicBezTo>
                    <a:pt x="404404" y="6899"/>
                    <a:pt x="394256" y="12758"/>
                    <a:pt x="384543" y="17616"/>
                  </a:cubicBezTo>
                  <a:cubicBezTo>
                    <a:pt x="335579" y="42097"/>
                    <a:pt x="272773" y="55245"/>
                    <a:pt x="207169" y="55245"/>
                  </a:cubicBezTo>
                  <a:cubicBezTo>
                    <a:pt x="141565" y="55245"/>
                    <a:pt x="78757" y="42097"/>
                    <a:pt x="29795" y="17616"/>
                  </a:cubicBezTo>
                  <a:cubicBezTo>
                    <a:pt x="20081" y="12758"/>
                    <a:pt x="9934" y="6899"/>
                    <a:pt x="0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916906" y="2209800"/>
              <a:ext cx="414338" cy="207169"/>
            </a:xfrm>
            <a:custGeom>
              <a:avLst/>
              <a:gdLst/>
              <a:ahLst/>
              <a:cxnLst/>
              <a:rect l="l" t="t" r="r" b="b"/>
              <a:pathLst>
                <a:path w="414338" h="207169">
                  <a:moveTo>
                    <a:pt x="207169" y="0"/>
                  </a:moveTo>
                  <a:cubicBezTo>
                    <a:pt x="321585" y="0"/>
                    <a:pt x="414338" y="46376"/>
                    <a:pt x="414338" y="103584"/>
                  </a:cubicBezTo>
                  <a:cubicBezTo>
                    <a:pt x="414338" y="160792"/>
                    <a:pt x="321585" y="207169"/>
                    <a:pt x="207169" y="207169"/>
                  </a:cubicBezTo>
                  <a:cubicBezTo>
                    <a:pt x="92753" y="207169"/>
                    <a:pt x="0" y="160792"/>
                    <a:pt x="0" y="103584"/>
                  </a:cubicBezTo>
                  <a:cubicBezTo>
                    <a:pt x="0" y="46376"/>
                    <a:pt x="92753" y="0"/>
                    <a:pt x="207169" y="0"/>
                  </a:cubicBez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424940" y="31775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离线建库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9208" y="36342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测试集图像先经过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9208" y="3881914"/>
            <a:ext cx="20981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CLIP 编码，写入 ChromaDB</a:t>
            </a:r>
          </a:p>
        </p:txBody>
      </p:sp>
      <p:sp>
        <p:nvSpPr>
          <p:cNvPr id="17" name="Freeform 17"/>
          <p:cNvSpPr/>
          <p:nvPr/>
        </p:nvSpPr>
        <p:spPr>
          <a:xfrm>
            <a:off x="4362450" y="2209800"/>
            <a:ext cx="542337" cy="542337"/>
          </a:xfrm>
          <a:custGeom>
            <a:avLst/>
            <a:gdLst/>
            <a:ahLst/>
            <a:cxnLst/>
            <a:rect l="l" t="t" r="r" b="b"/>
            <a:pathLst>
              <a:path w="542337" h="542337">
                <a:moveTo>
                  <a:pt x="386446" y="435275"/>
                </a:moveTo>
                <a:cubicBezTo>
                  <a:pt x="346096" y="465494"/>
                  <a:pt x="295987" y="483394"/>
                  <a:pt x="241697" y="483394"/>
                </a:cubicBezTo>
                <a:cubicBezTo>
                  <a:pt x="108211" y="483394"/>
                  <a:pt x="0" y="375183"/>
                  <a:pt x="0" y="241697"/>
                </a:cubicBezTo>
                <a:cubicBezTo>
                  <a:pt x="0" y="108211"/>
                  <a:pt x="108211" y="0"/>
                  <a:pt x="241697" y="0"/>
                </a:cubicBezTo>
                <a:cubicBezTo>
                  <a:pt x="375183" y="0"/>
                  <a:pt x="483394" y="108211"/>
                  <a:pt x="483394" y="241697"/>
                </a:cubicBezTo>
                <a:cubicBezTo>
                  <a:pt x="483394" y="295987"/>
                  <a:pt x="465494" y="346096"/>
                  <a:pt x="435275" y="386446"/>
                </a:cubicBezTo>
                <a:lnTo>
                  <a:pt x="542337" y="493507"/>
                </a:lnTo>
                <a:lnTo>
                  <a:pt x="493507" y="542337"/>
                </a:lnTo>
                <a:lnTo>
                  <a:pt x="386446" y="435275"/>
                </a:lnTo>
                <a:close/>
                <a:moveTo>
                  <a:pt x="192867" y="290527"/>
                </a:moveTo>
                <a:lnTo>
                  <a:pt x="144036" y="339357"/>
                </a:lnTo>
                <a:cubicBezTo>
                  <a:pt x="90100" y="285421"/>
                  <a:pt x="90100" y="197973"/>
                  <a:pt x="144036" y="144036"/>
                </a:cubicBezTo>
                <a:cubicBezTo>
                  <a:pt x="197973" y="90100"/>
                  <a:pt x="285421" y="90100"/>
                  <a:pt x="339357" y="144036"/>
                </a:cubicBezTo>
                <a:lnTo>
                  <a:pt x="290527" y="192867"/>
                </a:lnTo>
                <a:cubicBezTo>
                  <a:pt x="263559" y="165899"/>
                  <a:pt x="219835" y="165899"/>
                  <a:pt x="192867" y="192867"/>
                </a:cubicBezTo>
                <a:cubicBezTo>
                  <a:pt x="165899" y="219835"/>
                  <a:pt x="165899" y="263559"/>
                  <a:pt x="192867" y="290527"/>
                </a:cubicBezTo>
                <a:close/>
              </a:path>
            </a:pathLst>
          </a:custGeom>
          <a:solidFill>
            <a:srgbClr val="26C6D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3939540" y="31775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在线查询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793808" y="3634264"/>
            <a:ext cx="17496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把不同 Prompt 编码成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793808" y="3881914"/>
            <a:ext cx="1732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文本向量作为检索查询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911578" y="2209800"/>
            <a:ext cx="483394" cy="552450"/>
            <a:chOff x="6911578" y="2209800"/>
            <a:chExt cx="483394" cy="552450"/>
          </a:xfrm>
        </p:grpSpPr>
        <p:sp>
          <p:nvSpPr>
            <p:cNvPr id="21" name="Freeform 21"/>
            <p:cNvSpPr/>
            <p:nvPr/>
          </p:nvSpPr>
          <p:spPr>
            <a:xfrm>
              <a:off x="6911578" y="2209800"/>
              <a:ext cx="483394" cy="276225"/>
            </a:xfrm>
            <a:custGeom>
              <a:avLst/>
              <a:gdLst/>
              <a:ahLst/>
              <a:cxnLst/>
              <a:rect l="l" t="t" r="r" b="b"/>
              <a:pathLst>
                <a:path w="483394" h="276225">
                  <a:moveTo>
                    <a:pt x="0" y="172641"/>
                  </a:moveTo>
                  <a:lnTo>
                    <a:pt x="0" y="103584"/>
                  </a:lnTo>
                  <a:lnTo>
                    <a:pt x="241697" y="0"/>
                  </a:lnTo>
                  <a:lnTo>
                    <a:pt x="483394" y="103584"/>
                  </a:lnTo>
                  <a:lnTo>
                    <a:pt x="483394" y="172641"/>
                  </a:lnTo>
                  <a:lnTo>
                    <a:pt x="241697" y="276225"/>
                  </a:lnTo>
                  <a:lnTo>
                    <a:pt x="0" y="172641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911578" y="2589609"/>
              <a:ext cx="483394" cy="172641"/>
            </a:xfrm>
            <a:custGeom>
              <a:avLst/>
              <a:gdLst/>
              <a:ahLst/>
              <a:cxnLst/>
              <a:rect l="l" t="t" r="r" b="b"/>
              <a:pathLst>
                <a:path w="483394" h="172641">
                  <a:moveTo>
                    <a:pt x="241697" y="172641"/>
                  </a:moveTo>
                  <a:lnTo>
                    <a:pt x="0" y="69056"/>
                  </a:lnTo>
                  <a:lnTo>
                    <a:pt x="0" y="0"/>
                  </a:lnTo>
                  <a:lnTo>
                    <a:pt x="241697" y="103584"/>
                  </a:lnTo>
                  <a:lnTo>
                    <a:pt x="483394" y="0"/>
                  </a:lnTo>
                  <a:lnTo>
                    <a:pt x="483394" y="69056"/>
                  </a:lnTo>
                  <a:lnTo>
                    <a:pt x="241697" y="172641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6911578" y="2451497"/>
              <a:ext cx="483394" cy="172641"/>
            </a:xfrm>
            <a:custGeom>
              <a:avLst/>
              <a:gdLst/>
              <a:ahLst/>
              <a:cxnLst/>
              <a:rect l="l" t="t" r="r" b="b"/>
              <a:pathLst>
                <a:path w="483394" h="172641">
                  <a:moveTo>
                    <a:pt x="0" y="69056"/>
                  </a:moveTo>
                  <a:lnTo>
                    <a:pt x="241697" y="172641"/>
                  </a:lnTo>
                  <a:lnTo>
                    <a:pt x="483394" y="69056"/>
                  </a:lnTo>
                  <a:lnTo>
                    <a:pt x="483394" y="0"/>
                  </a:lnTo>
                  <a:lnTo>
                    <a:pt x="241697" y="103584"/>
                  </a:lnTo>
                  <a:lnTo>
                    <a:pt x="0" y="0"/>
                  </a:lnTo>
                  <a:lnTo>
                    <a:pt x="0" y="69056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473190" y="3177540"/>
            <a:ext cx="130587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相似度召回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08408" y="3634264"/>
            <a:ext cx="1392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返回最接近的图像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08408" y="3881914"/>
            <a:ext cx="106101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候选集 Top-K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601200" y="2244328"/>
            <a:ext cx="552450" cy="483394"/>
            <a:chOff x="9601200" y="2244328"/>
            <a:chExt cx="552450" cy="483394"/>
          </a:xfrm>
        </p:grpSpPr>
        <p:sp>
          <p:nvSpPr>
            <p:cNvPr id="28" name="Freeform 28"/>
            <p:cNvSpPr/>
            <p:nvPr/>
          </p:nvSpPr>
          <p:spPr>
            <a:xfrm>
              <a:off x="10015538" y="2244328"/>
              <a:ext cx="138112" cy="483394"/>
            </a:xfrm>
            <a:custGeom>
              <a:avLst/>
              <a:gdLst/>
              <a:ahLst/>
              <a:cxnLst/>
              <a:rect l="l" t="t" r="r" b="b"/>
              <a:pathLst>
                <a:path w="138112" h="483394">
                  <a:moveTo>
                    <a:pt x="138112" y="0"/>
                  </a:moveTo>
                  <a:lnTo>
                    <a:pt x="0" y="0"/>
                  </a:lnTo>
                  <a:lnTo>
                    <a:pt x="0" y="483394"/>
                  </a:lnTo>
                  <a:lnTo>
                    <a:pt x="138112" y="483394"/>
                  </a:lnTo>
                  <a:lnTo>
                    <a:pt x="138112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808369" y="2382441"/>
              <a:ext cx="138112" cy="345281"/>
            </a:xfrm>
            <a:custGeom>
              <a:avLst/>
              <a:gdLst/>
              <a:ahLst/>
              <a:cxnLst/>
              <a:rect l="l" t="t" r="r" b="b"/>
              <a:pathLst>
                <a:path w="138112" h="345281">
                  <a:moveTo>
                    <a:pt x="0" y="0"/>
                  </a:moveTo>
                  <a:lnTo>
                    <a:pt x="138112" y="0"/>
                  </a:lnTo>
                  <a:lnTo>
                    <a:pt x="138112" y="345281"/>
                  </a:lnTo>
                  <a:lnTo>
                    <a:pt x="0" y="3452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9601200" y="2520553"/>
              <a:ext cx="138112" cy="207169"/>
            </a:xfrm>
            <a:custGeom>
              <a:avLst/>
              <a:gdLst/>
              <a:ahLst/>
              <a:cxnLst/>
              <a:rect l="l" t="t" r="r" b="b"/>
              <a:pathLst>
                <a:path w="138112" h="207169">
                  <a:moveTo>
                    <a:pt x="0" y="0"/>
                  </a:moveTo>
                  <a:lnTo>
                    <a:pt x="138112" y="0"/>
                  </a:lnTo>
                  <a:lnTo>
                    <a:pt x="138112" y="207169"/>
                  </a:lnTo>
                  <a:lnTo>
                    <a:pt x="0" y="207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C6DA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9197340" y="317754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统一评估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32558" y="3634264"/>
            <a:ext cx="220865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对比不同模型、不同 Prompt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2558" y="3881914"/>
            <a:ext cx="25401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在 Recall / MRR / NDCG 上的差异</a:t>
            </a:r>
          </a:p>
        </p:txBody>
      </p:sp>
      <p:sp>
        <p:nvSpPr>
          <p:cNvPr id="35" name="Freeform 35"/>
          <p:cNvSpPr/>
          <p:nvPr/>
        </p:nvSpPr>
        <p:spPr>
          <a:xfrm>
            <a:off x="3143250" y="381952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36" name="Freeform 36"/>
          <p:cNvSpPr/>
          <p:nvPr/>
        </p:nvSpPr>
        <p:spPr>
          <a:xfrm>
            <a:off x="5657850" y="381952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37" name="Freeform 37"/>
          <p:cNvSpPr/>
          <p:nvPr/>
        </p:nvSpPr>
        <p:spPr>
          <a:xfrm>
            <a:off x="8172450" y="381952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solidFill>
            <a:srgbClr val="000000"/>
          </a:solidFill>
          <a:ln w="38100" cap="rnd">
            <a:solidFill>
              <a:srgbClr val="26C6D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083945" y="5155882"/>
            <a:ext cx="32994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它的意义不只是“跑通检索流程”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87755" y="5531168"/>
            <a:ext cx="599303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而是把 Prompt 设计、模型微调和向量检索评测串成了一条完整实验链路。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202543" y="6233160"/>
            <a:ext cx="166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11144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10 / 实验设置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536124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实验设置：统一比较、统一指标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4114800" cy="4248150"/>
          </a:xfrm>
          <a:prstGeom prst="roundRect">
            <a:avLst>
              <a:gd name="adj" fmla="val 5556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05840" y="2053590"/>
            <a:ext cx="206197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超参数与训练设定</a:t>
            </a:r>
          </a:p>
        </p:txBody>
      </p:sp>
      <p:sp>
        <p:nvSpPr>
          <p:cNvPr id="7" name="Rectangle 7"/>
          <p:cNvSpPr/>
          <p:nvPr/>
        </p:nvSpPr>
        <p:spPr>
          <a:xfrm>
            <a:off x="1028700" y="2628900"/>
            <a:ext cx="3581400" cy="552450"/>
          </a:xfrm>
          <a:prstGeom prst="roundRect">
            <a:avLst>
              <a:gd name="adj" fmla="val 27586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028700" y="3333750"/>
            <a:ext cx="3581400" cy="552450"/>
          </a:xfrm>
          <a:prstGeom prst="roundRect">
            <a:avLst>
              <a:gd name="adj" fmla="val 27586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028700" y="4038600"/>
            <a:ext cx="3581400" cy="552450"/>
          </a:xfrm>
          <a:prstGeom prst="roundRect">
            <a:avLst>
              <a:gd name="adj" fmla="val 27586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1028700" y="4743450"/>
            <a:ext cx="3581400" cy="552450"/>
          </a:xfrm>
          <a:prstGeom prst="roundRect">
            <a:avLst>
              <a:gd name="adj" fmla="val 27586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38250" y="2819400"/>
            <a:ext cx="19583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embedding_dim = 512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3524250"/>
            <a:ext cx="20483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learning rate = 0.001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8250" y="4229100"/>
            <a:ext cx="19583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temperature = 0.07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8250" y="493395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epoch = 20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2508" y="5596414"/>
            <a:ext cx="573659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Linear Probe 的最优参数由 grid search 得到，随后用于后续对比与消融。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219700" y="1809750"/>
            <a:ext cx="62103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463540" y="2053590"/>
            <a:ext cx="438066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评价指标：衡量“命中”和“排序”两件事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486400" y="2628900"/>
            <a:ext cx="5676900" cy="838200"/>
          </a:xfrm>
          <a:prstGeom prst="roundRect">
            <a:avLst>
              <a:gd name="adj" fmla="val 20455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5732145" y="2774632"/>
            <a:ext cx="9429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Recall@K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35955" y="3092768"/>
            <a:ext cx="27616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正确图片是否出现在前 K 个结果里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486400" y="3676650"/>
            <a:ext cx="5676900" cy="838200"/>
          </a:xfrm>
          <a:prstGeom prst="roundRect">
            <a:avLst>
              <a:gd name="adj" fmla="val 20455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732145" y="3822382"/>
            <a:ext cx="72344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MRR@K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35955" y="4140518"/>
            <a:ext cx="25546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正确图片排得越靠前，分数越高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486400" y="4724400"/>
            <a:ext cx="5676900" cy="838200"/>
          </a:xfrm>
          <a:prstGeom prst="roundRect">
            <a:avLst>
              <a:gd name="adj" fmla="val 20455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732145" y="4870132"/>
            <a:ext cx="8043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NDCG@K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35955" y="5188268"/>
            <a:ext cx="381476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不仅关注是否命中，也关注命中的相对排序质量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470208" y="5710714"/>
            <a:ext cx="807439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因此后面看到 Recall 上升时，我们还会同步看 MRR / NDCG 是否一起改善，避免“只命中不靠前”的假提升。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42548" y="6233160"/>
            <a:ext cx="1264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8893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11 / 结果一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641977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完整商品标题远优于属性拼接 Prompt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74295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05840" y="2053590"/>
            <a:ext cx="475870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Original CLIP 下不同 Prompt 的 Recall@5</a:t>
            </a:r>
          </a:p>
        </p:txBody>
      </p:sp>
      <p:sp>
        <p:nvSpPr>
          <p:cNvPr id="7" name="Line 7"/>
          <p:cNvSpPr/>
          <p:nvPr/>
        </p:nvSpPr>
        <p:spPr>
          <a:xfrm>
            <a:off x="1257300" y="2762250"/>
            <a:ext cx="9525" cy="2686050"/>
          </a:xfrm>
          <a:custGeom>
            <a:avLst/>
            <a:gdLst/>
            <a:ahLst/>
            <a:cxnLst/>
            <a:rect l="l" t="t" r="r" b="b"/>
            <a:pathLst>
              <a:path w="9525" h="2686050">
                <a:moveTo>
                  <a:pt x="0" y="26860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71839E"/>
            </a:solidFill>
          </a:ln>
        </p:spPr>
      </p:sp>
      <p:sp>
        <p:nvSpPr>
          <p:cNvPr id="8" name="Line 8"/>
          <p:cNvSpPr/>
          <p:nvPr/>
        </p:nvSpPr>
        <p:spPr>
          <a:xfrm>
            <a:off x="1257300" y="5448300"/>
            <a:ext cx="6229350" cy="9525"/>
          </a:xfrm>
          <a:custGeom>
            <a:avLst/>
            <a:gdLst/>
            <a:ahLst/>
            <a:cxnLst/>
            <a:rect l="l" t="t" r="r" b="b"/>
            <a:pathLst>
              <a:path w="6229350" h="9525">
                <a:moveTo>
                  <a:pt x="0" y="0"/>
                </a:moveTo>
                <a:lnTo>
                  <a:pt x="6229350" y="0"/>
                </a:lnTo>
              </a:path>
            </a:pathLst>
          </a:custGeom>
          <a:noFill/>
          <a:ln w="19050">
            <a:solidFill>
              <a:srgbClr val="71839E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714500" y="5210175"/>
            <a:ext cx="647700" cy="238125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2762250" y="5143500"/>
            <a:ext cx="647700" cy="304800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3810000" y="5191125"/>
            <a:ext cx="647700" cy="257175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857750" y="5067300"/>
            <a:ext cx="647700" cy="381000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5905500" y="2762250"/>
            <a:ext cx="647700" cy="2686050"/>
          </a:xfrm>
          <a:prstGeom prst="rect">
            <a:avLst/>
          </a:prstGeom>
          <a:solidFill>
            <a:srgbClr val="26C6D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859042" y="5641181"/>
            <a:ext cx="3586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type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4274" y="5641181"/>
            <a:ext cx="6436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material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13287" y="5641181"/>
            <a:ext cx="4411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brand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12243" y="5641181"/>
            <a:ext cx="11387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brand_material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87547" y="5641181"/>
            <a:ext cx="2836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full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76532" y="4983956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0.0482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24282" y="491728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0.0688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872032" y="4964906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0.0527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19782" y="4841081"/>
            <a:ext cx="5236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0.0786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36875" y="2518410"/>
            <a:ext cx="5849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0.5446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534400" y="1809750"/>
            <a:ext cx="2895600" cy="4248150"/>
          </a:xfrm>
          <a:prstGeom prst="roundRect">
            <a:avLst>
              <a:gd name="adj" fmla="val 7895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78240" y="20535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关键发现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82050" y="2676525"/>
            <a:ext cx="30684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1. 仅靠类别或少量属性，效果很弱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2050" y="3133725"/>
            <a:ext cx="24984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2. `full` Prompt 明显跳升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70620" y="3322320"/>
            <a:ext cx="116989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0.5446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83955" y="3873818"/>
            <a:ext cx="45348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说明完整标题能提供更丰富的商品名称、款式与用途信息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82050" y="4524375"/>
            <a:ext cx="41986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3. 这也解释了后续为什么要重点看 `full` 条件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83955" y="5073968"/>
            <a:ext cx="39587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Prompt 不是附属变量，而是性能决定因素之一。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02543" y="6233160"/>
            <a:ext cx="166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12 / 结果二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7138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在 `full` Prompt 下，LoRA 取得最佳结果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790700"/>
            <a:ext cx="10668000" cy="1104900"/>
          </a:xfrm>
          <a:prstGeom prst="roundRect">
            <a:avLst>
              <a:gd name="adj" fmla="val 20690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1028700" y="2038350"/>
            <a:ext cx="3143250" cy="609600"/>
          </a:xfrm>
          <a:prstGeom prst="roundRect">
            <a:avLst>
              <a:gd name="adj" fmla="val 28125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4514850" y="2038350"/>
            <a:ext cx="3143250" cy="609600"/>
          </a:xfrm>
          <a:prstGeom prst="roundRect">
            <a:avLst>
              <a:gd name="adj" fmla="val 28125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001000" y="2038350"/>
            <a:ext cx="3143250" cy="609600"/>
          </a:xfrm>
          <a:prstGeom prst="roundRect">
            <a:avLst>
              <a:gd name="adj" fmla="val 28125"/>
            </a:avLst>
          </a:prstGeom>
          <a:solidFill>
            <a:srgbClr val="14304B"/>
          </a:solidFill>
          <a:ln w="19050">
            <a:solidFill>
              <a:srgbClr val="26C6D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236345" y="2222182"/>
            <a:ext cx="3474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Original CLIP · Recall@5 = 0.5446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2495" y="2222182"/>
            <a:ext cx="3474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Linear Probe · Recall@5 = 0.8000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08645" y="2222182"/>
            <a:ext cx="274494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LoRA · Recall@5 = 0.8339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3219450"/>
            <a:ext cx="6858000" cy="2838450"/>
          </a:xfrm>
          <a:prstGeom prst="roundRect">
            <a:avLst>
              <a:gd name="adj" fmla="val 8054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005840" y="3444240"/>
            <a:ext cx="320871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Top-K 对比（full Prompt）</a:t>
            </a:r>
          </a:p>
        </p:txBody>
      </p:sp>
      <p:sp>
        <p:nvSpPr>
          <p:cNvPr id="14" name="Line 14"/>
          <p:cNvSpPr/>
          <p:nvPr/>
        </p:nvSpPr>
        <p:spPr>
          <a:xfrm>
            <a:off x="1257300" y="4095750"/>
            <a:ext cx="9525" cy="1466850"/>
          </a:xfrm>
          <a:custGeom>
            <a:avLst/>
            <a:gdLst/>
            <a:ahLst/>
            <a:cxnLst/>
            <a:rect l="l" t="t" r="r" b="b"/>
            <a:pathLst>
              <a:path w="9525" h="1466850">
                <a:moveTo>
                  <a:pt x="0" y="146685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71839E"/>
            </a:solidFill>
          </a:ln>
        </p:spPr>
      </p:sp>
      <p:sp>
        <p:nvSpPr>
          <p:cNvPr id="15" name="Line 15"/>
          <p:cNvSpPr/>
          <p:nvPr/>
        </p:nvSpPr>
        <p:spPr>
          <a:xfrm>
            <a:off x="1257300" y="5562600"/>
            <a:ext cx="5867400" cy="9525"/>
          </a:xfrm>
          <a:custGeom>
            <a:avLst/>
            <a:gdLst/>
            <a:ahLst/>
            <a:cxnLst/>
            <a:rect l="l" t="t" r="r" b="b"/>
            <a:pathLst>
              <a:path w="5867400" h="9525">
                <a:moveTo>
                  <a:pt x="0" y="0"/>
                </a:moveTo>
                <a:lnTo>
                  <a:pt x="5867400" y="0"/>
                </a:lnTo>
              </a:path>
            </a:pathLst>
          </a:custGeom>
          <a:noFill/>
          <a:ln w="19050">
            <a:solidFill>
              <a:srgbClr val="71839E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790700" y="4724400"/>
            <a:ext cx="304800" cy="838200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2152650" y="4333875"/>
            <a:ext cx="304800" cy="1228725"/>
          </a:xfrm>
          <a:prstGeom prst="rect">
            <a:avLst/>
          </a:prstGeom>
          <a:solidFill>
            <a:srgbClr val="1E66F5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2514600" y="4286250"/>
            <a:ext cx="304800" cy="1276350"/>
          </a:xfrm>
          <a:prstGeom prst="rect">
            <a:avLst/>
          </a:prstGeom>
          <a:solidFill>
            <a:srgbClr val="26C6DA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3771900" y="4533900"/>
            <a:ext cx="304800" cy="1028700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4133850" y="4191000"/>
            <a:ext cx="304800" cy="1371600"/>
          </a:xfrm>
          <a:prstGeom prst="rect">
            <a:avLst/>
          </a:prstGeom>
          <a:solidFill>
            <a:srgbClr val="1E66F5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495800" y="4133850"/>
            <a:ext cx="304800" cy="1428750"/>
          </a:xfrm>
          <a:prstGeom prst="rect">
            <a:avLst/>
          </a:prstGeom>
          <a:solidFill>
            <a:srgbClr val="26C6DA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753100" y="4381500"/>
            <a:ext cx="304800" cy="1181100"/>
          </a:xfrm>
          <a:prstGeom prst="rect">
            <a:avLst/>
          </a:prstGeom>
          <a:solidFill>
            <a:srgbClr val="FF8A4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115050" y="4010025"/>
            <a:ext cx="304800" cy="1552575"/>
          </a:xfrm>
          <a:prstGeom prst="rect">
            <a:avLst/>
          </a:prstGeom>
          <a:solidFill>
            <a:srgbClr val="1E66F5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477000" y="3981450"/>
            <a:ext cx="304800" cy="1581150"/>
          </a:xfrm>
          <a:prstGeom prst="rect">
            <a:avLst/>
          </a:prstGeom>
          <a:solidFill>
            <a:srgbClr val="26C6D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069782" y="5699760"/>
            <a:ext cx="4705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Top-5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026979" y="5699760"/>
            <a:ext cx="5185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Top-10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88177" y="5699760"/>
            <a:ext cx="5585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Top-20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78318" y="4523899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0.5446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40268" y="4133374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0.8000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02218" y="408574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0.8339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759518" y="4333399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0.6705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21468" y="3990499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0.8875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483418" y="393334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0.9009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740718" y="4180999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0.7705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102668" y="3809524"/>
            <a:ext cx="4538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0.9330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64618" y="3780949"/>
            <a:ext cx="47527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0.9357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962900" y="3219450"/>
            <a:ext cx="3467100" cy="2838450"/>
          </a:xfrm>
          <a:prstGeom prst="roundRect">
            <a:avLst>
              <a:gd name="adj" fmla="val 8054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8206740" y="3444240"/>
            <a:ext cx="180994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最重要的一句话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08645" y="4031932"/>
            <a:ext cx="21871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LoRA 相比原始 CLIP：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85785" y="4371022"/>
            <a:ext cx="1947412" cy="701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450" b="1" dirty="0">
                <a:solidFill>
                  <a:srgbClr val="3DDC97"/>
                </a:solidFill>
                <a:latin typeface="Arial"/>
                <a:ea typeface="Microsoft YaHei"/>
                <a:cs typeface="Arial"/>
              </a:rPr>
              <a:t>+0.2893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10550" y="4924425"/>
            <a:ext cx="127825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Recall@5 提升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12455" y="5435918"/>
            <a:ext cx="74062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而且在 Top-10、Top-20 下依然稳定领先，说明提升不是偶然波动，而是整体排序能力增强。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02543" y="6233160"/>
            <a:ext cx="166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4855" y="76866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13 / 结果三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27710" y="1099185"/>
            <a:ext cx="762952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进一步发现：文本侧更关键，但双侧协同最稳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809750"/>
            <a:ext cx="51435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005840" y="2053590"/>
            <a:ext cx="216278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Linear Probe 消融</a:t>
            </a:r>
          </a:p>
        </p:txBody>
      </p:sp>
      <p:sp>
        <p:nvSpPr>
          <p:cNvPr id="7" name="Rectangle 7"/>
          <p:cNvSpPr/>
          <p:nvPr/>
        </p:nvSpPr>
        <p:spPr>
          <a:xfrm>
            <a:off x="1028700" y="2724150"/>
            <a:ext cx="4610100" cy="781050"/>
          </a:xfrm>
          <a:prstGeom prst="roundRect">
            <a:avLst>
              <a:gd name="adj" fmla="val 2195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257300" y="2867025"/>
            <a:ext cx="441864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属性型 Prompt：text only 通常优于 vision only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1110" y="3166110"/>
            <a:ext cx="31428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例如 brand_material 下，0.1402 ＞ 0.1143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028700" y="3714750"/>
            <a:ext cx="4610100" cy="781050"/>
          </a:xfrm>
          <a:prstGeom prst="roundRect">
            <a:avLst>
              <a:gd name="adj" fmla="val 2195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7300" y="3857625"/>
            <a:ext cx="33685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完整标题 Prompt：text+vision 最好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110" y="4156710"/>
            <a:ext cx="343890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Top-20 Recall 达到 0.9384，说明双侧协同更稳</a:t>
            </a:r>
          </a:p>
        </p:txBody>
      </p:sp>
      <p:sp>
        <p:nvSpPr>
          <p:cNvPr id="13" name="Rectangle 13"/>
          <p:cNvSpPr/>
          <p:nvPr/>
        </p:nvSpPr>
        <p:spPr>
          <a:xfrm>
            <a:off x="1028700" y="4705350"/>
            <a:ext cx="4610100" cy="952500"/>
          </a:xfrm>
          <a:prstGeom prst="roundRect">
            <a:avLst>
              <a:gd name="adj" fmla="val 18000"/>
            </a:avLst>
          </a:prstGeom>
          <a:solidFill>
            <a:srgbClr val="14304B"/>
          </a:solidFill>
          <a:ln w="19050">
            <a:solidFill>
              <a:srgbClr val="26C6D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255395" y="4870132"/>
            <a:ext cx="50396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解释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9205" y="5207318"/>
            <a:ext cx="36347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当查询本身来自文本时，先调文本侧更直接；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9205" y="5474018"/>
            <a:ext cx="41748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但当文本足够丰富时，重塑图文共同空间才最有效。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48400" y="1809750"/>
            <a:ext cx="5181600" cy="4248150"/>
          </a:xfrm>
          <a:prstGeom prst="roundRect">
            <a:avLst>
              <a:gd name="adj" fmla="val 5381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492240" y="2053590"/>
            <a:ext cx="105384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66E3FF"/>
                </a:solidFill>
                <a:latin typeface="Arial"/>
                <a:ea typeface="Microsoft YaHei"/>
                <a:cs typeface="Arial"/>
              </a:rPr>
              <a:t>误差分析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515100" y="2724150"/>
            <a:ext cx="4648200" cy="647700"/>
          </a:xfrm>
          <a:prstGeom prst="roundRect">
            <a:avLst>
              <a:gd name="adj" fmla="val 26471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62750" y="2943225"/>
            <a:ext cx="41586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Top-20 未命中样本：72 / 1120，错误率 6.43%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515100" y="3600450"/>
            <a:ext cx="2209800" cy="914400"/>
          </a:xfrm>
          <a:prstGeom prst="roundRect">
            <a:avLst>
              <a:gd name="adj" fmla="val 1875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953500" y="3600450"/>
            <a:ext cx="2209800" cy="914400"/>
          </a:xfrm>
          <a:prstGeom prst="roundRect">
            <a:avLst>
              <a:gd name="adj" fmla="val 1875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6515100" y="4724400"/>
            <a:ext cx="2209800" cy="914400"/>
          </a:xfrm>
          <a:prstGeom prst="roundRect">
            <a:avLst>
              <a:gd name="adj" fmla="val 1875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8953500" y="4724400"/>
            <a:ext cx="2209800" cy="914400"/>
          </a:xfrm>
          <a:prstGeom prst="roundRect">
            <a:avLst>
              <a:gd name="adj" fmla="val 18750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88455" y="379761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同类商品视觉过于相似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91312" y="408860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是最主要错误来源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26855" y="379761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跨类别混淆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29712" y="4088606"/>
            <a:ext cx="19788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常与品牌、标题语义重叠有关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88455" y="4921568"/>
            <a:ext cx="18345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非英文标题与翻译损耗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91312" y="5212556"/>
            <a:ext cx="137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会降低文本编码质量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126855" y="49215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低质量标题噪声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129712" y="5212556"/>
            <a:ext cx="2766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如“24”或 Unknown Material 等占位文本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02543" y="6233160"/>
            <a:ext cx="166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685800" y="685800"/>
            <a:ext cx="10820400" cy="5486400"/>
          </a:xfrm>
          <a:prstGeom prst="roundRect">
            <a:avLst>
              <a:gd name="adj" fmla="val 5556"/>
            </a:avLst>
          </a:prstGeom>
          <a:solidFill>
            <a:srgbClr val="0B1727"/>
          </a:solidFill>
          <a:ln w="19050">
            <a:solidFill>
              <a:srgbClr val="20344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5448776" y="1225868"/>
            <a:ext cx="12944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14 / 结论与展望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67664" y="1581150"/>
            <a:ext cx="385667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回到最初的三个问题</a:t>
            </a:r>
          </a:p>
        </p:txBody>
      </p:sp>
      <p:sp>
        <p:nvSpPr>
          <p:cNvPr id="6" name="Rectangle 6"/>
          <p:cNvSpPr/>
          <p:nvPr/>
        </p:nvSpPr>
        <p:spPr>
          <a:xfrm>
            <a:off x="1295400" y="2400300"/>
            <a:ext cx="9601200" cy="857250"/>
          </a:xfrm>
          <a:prstGeom prst="roundRect">
            <a:avLst>
              <a:gd name="adj" fmla="val 24444"/>
            </a:avLst>
          </a:prstGeom>
          <a:solidFill>
            <a:srgbClr val="10243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590675" y="2671762"/>
            <a:ext cx="9398067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gradFill>
                  <a:gsLst>
                    <a:gs pos="0">
                      <a:srgbClr val="1E66F5"/>
                    </a:gs>
                    <a:gs pos="100000">
                      <a:srgbClr val="26C6DA"/>
                    </a:gs>
                  </a:gsLst>
                  <a:lin ang="2700000" scaled="1"/>
                </a:gradFill>
                <a:latin typeface="Arial"/>
                <a:ea typeface="Microsoft YaHei"/>
                <a:cs typeface="Arial"/>
              </a:rPr>
              <a:t>答案是：原始 CLIP 能用，但 Prompt 与轻量微调共同决定了上限。</a:t>
            </a:r>
          </a:p>
        </p:txBody>
      </p:sp>
      <p:sp>
        <p:nvSpPr>
          <p:cNvPr id="8" name="Rectangle 8"/>
          <p:cNvSpPr/>
          <p:nvPr/>
        </p:nvSpPr>
        <p:spPr>
          <a:xfrm>
            <a:off x="1295400" y="3581400"/>
            <a:ext cx="2857500" cy="1714500"/>
          </a:xfrm>
          <a:prstGeom prst="roundRect">
            <a:avLst>
              <a:gd name="adj" fmla="val 13333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667250" y="3581400"/>
            <a:ext cx="2857500" cy="1714500"/>
          </a:xfrm>
          <a:prstGeom prst="roundRect">
            <a:avLst>
              <a:gd name="adj" fmla="val 13333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8039100" y="3581400"/>
            <a:ext cx="2857500" cy="1714500"/>
          </a:xfrm>
          <a:prstGeom prst="roundRect">
            <a:avLst>
              <a:gd name="adj" fmla="val 13333"/>
            </a:avLst>
          </a:prstGeom>
          <a:solidFill>
            <a:srgbClr val="0E1B2D"/>
          </a:solidFill>
          <a:ln w="19050">
            <a:solidFill>
              <a:srgbClr val="20344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539240" y="3844290"/>
            <a:ext cx="22888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Q1 原始 CLIP 够吗？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4955" y="43119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能工作，但在商品域细粒度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4955" y="45786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区分上还有明显提升空间。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11090" y="3844290"/>
            <a:ext cx="221319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Q2 微调有没有用？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6805" y="4311968"/>
            <a:ext cx="16544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有，而且非常明显。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07280" y="4497705"/>
            <a:ext cx="3243639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DDC97"/>
                </a:solidFill>
                <a:latin typeface="Arial"/>
                <a:ea typeface="Microsoft YaHei"/>
                <a:cs typeface="Arial"/>
              </a:rPr>
              <a:t>LoRA Recall@5 = 0.8339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8710" y="4880610"/>
            <a:ext cx="20627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相对原始 CLIP 提升 +0.2893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2940" y="3844290"/>
            <a:ext cx="241481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6C6DA"/>
                </a:solidFill>
                <a:latin typeface="Arial"/>
                <a:ea typeface="Microsoft YaHei"/>
                <a:cs typeface="Arial"/>
              </a:rPr>
              <a:t>Q3 Prompt 重要吗？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88655" y="4311968"/>
            <a:ext cx="9344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非常重要。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288655" y="4578668"/>
            <a:ext cx="22125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完整标题 Prompt 明显优于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88655" y="4845368"/>
            <a:ext cx="3391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type / brand / material 等粗粒度描述。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6350" y="5667375"/>
            <a:ext cx="58388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A8B7CF"/>
                </a:solidFill>
                <a:latin typeface="Arial"/>
                <a:ea typeface="Microsoft YaHei"/>
                <a:cs typeface="Arial"/>
              </a:rPr>
              <a:t>后续工作：更大规模商品库、多模态推荐场景、线上检索系统验证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77325" y="5667375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500" dirty="0">
                <a:solidFill>
                  <a:srgbClr val="EAF2FF"/>
                </a:solidFill>
                <a:latin typeface="Arial"/>
                <a:ea typeface="Microsoft YaHei"/>
                <a:cs typeface="Arial"/>
              </a:rPr>
              <a:t>谢谢老师与同学聆听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202543" y="6233160"/>
            <a:ext cx="1664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39E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